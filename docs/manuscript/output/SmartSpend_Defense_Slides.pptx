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libri"/>
              </a:rPr>
              <a:t>SmartSpend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C9A84C"/>
                </a:solidFill>
                <a:latin typeface="Calibri"/>
              </a:rPr>
              <a:t>An AI-Assisted Mobile Financial Tracking and Advisory Application
for Personal Financial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3337560"/>
            <a:ext cx="758952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Pre-Final Defense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77639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F0F0"/>
                </a:solidFill>
                <a:latin typeface="Calibri"/>
              </a:rPr>
              <a:t>Brix A. Directo  |  Cyrille John M. Rubis  |  Djaunathan Albert S. Madayag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074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0F0F0"/>
                </a:solidFill>
                <a:latin typeface="Calibri"/>
              </a:rPr>
              <a:t>Lucid Frame  |  BSIT 4th Year  |  Lorma Colleges CCSE  |  AY 2026–2027, 1st Semester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00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9A84C"/>
                </a:solidFill>
                <a:latin typeface="Calibri"/>
              </a:rPr>
              <a:t>Adviser: Ellen F. Mangaoang, MIT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2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3383280" cy="2194560"/>
          </a:xfrm>
          <a:prstGeom prst="rect">
            <a:avLst/>
          </a:prstGeom>
          <a:solidFill>
            <a:srgbClr val="EAD9E0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5C0E24"/>
                </a:solidFill>
                <a:latin typeface="Calibri"/>
              </a:rPr>
              <a:t>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22"/>
                </a:solidFill>
                <a:latin typeface="Calibri"/>
              </a:rPr>
              <a:t>Filipino adults with
bank accounts
(BSP CFIS, 2025)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79" y="1188720"/>
            <a:ext cx="3383280" cy="2194560"/>
          </a:xfrm>
          <a:prstGeom prst="rect">
            <a:avLst/>
          </a:prstGeom>
          <a:solidFill>
            <a:srgbClr val="DAE8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79" y="123444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5C0E24"/>
                </a:solidFill>
                <a:latin typeface="Calibri"/>
              </a:rPr>
              <a:t>74%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219456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22"/>
                </a:solidFill>
                <a:latin typeface="Calibri"/>
              </a:rPr>
              <a:t>Filipinos who answered
financial literacy questions
correctly (BSP, 2025)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1188720"/>
            <a:ext cx="3383280" cy="2194560"/>
          </a:xfrm>
          <a:prstGeom prst="rect">
            <a:avLst/>
          </a:prstGeom>
          <a:solidFill>
            <a:srgbClr val="D9F0D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9" y="123444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5C0E24"/>
                </a:solidFill>
                <a:latin typeface="Calibri"/>
              </a:rPr>
              <a:t>18%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9" y="219456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22"/>
                </a:solidFill>
                <a:latin typeface="Calibri"/>
              </a:rPr>
              <a:t>Global consumers using AI
specifically for budgeting
(EY Survey, 2026)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566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5C0E24"/>
                </a:solidFill>
                <a:latin typeface="Calibri"/>
              </a:rPr>
              <a:t>The Gap: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77639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22222"/>
                </a:solidFill>
                <a:latin typeface="Calibri"/>
              </a:rPr>
              <a:t>Most Filipinos do not track finances — not because they don't want to, but because traditional tools (spreadsheets, manual apps) are too tedious. No existing free Android app combines agentic AI + offline capability + Filipino-English + a Financial Health Score.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83480"/>
            <a:ext cx="11247120" cy="822960"/>
          </a:xfrm>
          <a:prstGeom prst="rect">
            <a:avLst/>
          </a:prstGeom>
          <a:solidFill>
            <a:srgbClr val="F5EEF0"/>
          </a:solidFill>
          <a:ln w="19050">
            <a:solidFill>
              <a:srgbClr val="CC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04748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5C0E24"/>
                </a:solidFill>
                <a:latin typeface="Calibri"/>
              </a:rPr>
              <a:t>📌  SmartSpend removes friction: say "I spent 85 pesos on lunch" — it logs automatically. No forms. No dropdowns.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Research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3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247120" cy="1463040"/>
          </a:xfrm>
          <a:prstGeom prst="rect">
            <a:avLst/>
          </a:prstGeom>
          <a:solidFill>
            <a:srgbClr val="EAD9E0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685800" cy="146304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685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2344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C0E24"/>
                </a:solidFill>
                <a:latin typeface="Calibri"/>
              </a:rPr>
              <a:t>Objective 1 — Assessment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7373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Calibri"/>
              </a:rPr>
              <a:t>Assess the existing financial management practices, common budgeting challenges, and expense tracking behaviors of parents (35–55) and young professionals (21–35) in La Union.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88920"/>
            <a:ext cx="11247120" cy="1463040"/>
          </a:xfrm>
          <a:prstGeom prst="rect">
            <a:avLst/>
          </a:prstGeom>
          <a:solidFill>
            <a:srgbClr val="D9E8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788920"/>
            <a:ext cx="685800" cy="1463040"/>
          </a:xfrm>
          <a:prstGeom prst="rect">
            <a:avLst/>
          </a:prstGeom>
          <a:solidFill>
            <a:srgbClr val="2A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063239"/>
            <a:ext cx="685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8803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A4A7F"/>
                </a:solidFill>
                <a:latin typeface="Calibri"/>
              </a:rPr>
              <a:t>Objective 2 —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83279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Calibri"/>
              </a:rPr>
              <a:t>Design and develop the SmartSpend mobile application, including a comparative evaluation of 15 LLM API providers to select the optimal model for Filipino-English agentic AI.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34840"/>
            <a:ext cx="11247120" cy="1463040"/>
          </a:xfrm>
          <a:prstGeom prst="rect">
            <a:avLst/>
          </a:prstGeom>
          <a:solidFill>
            <a:srgbClr val="D9F0D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434840"/>
            <a:ext cx="685800" cy="146304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709159"/>
            <a:ext cx="685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526279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6B3A"/>
                </a:solidFill>
                <a:latin typeface="Calibri"/>
              </a:rPr>
              <a:t>Objective 3 — Evaluation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02920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Calibri"/>
              </a:rPr>
              <a:t>Evaluate the usability of SmartSpend using the System Usability Scale (SUS) with 30 purposively selected respondents. Target: SUS Score ≥ 80 (Good).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What is SmartSpend?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4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C0E24"/>
                </a:solidFill>
                <a:latin typeface="Calibri"/>
              </a:rPr>
              <a:t>User Input  →  AI Parsing  →  Autonomous Action  →  SQLite  →  Analytics &amp; Insights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3566160" cy="1920240"/>
          </a:xfrm>
          <a:prstGeom prst="rect">
            <a:avLst/>
          </a:prstGeom>
          <a:solidFill>
            <a:srgbClr val="FAFA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3566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3172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5C0E24"/>
                </a:solidFill>
                <a:latin typeface="Calibri"/>
              </a:rPr>
              <a:t>31 Agentic AI
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  <a:latin typeface="Calibri"/>
              </a:rPr>
              <a:t>AI takes real actions
on your financial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645920"/>
            <a:ext cx="3566160" cy="1920240"/>
          </a:xfrm>
          <a:prstGeom prst="rect">
            <a:avLst/>
          </a:prstGeom>
          <a:solidFill>
            <a:srgbClr val="FAFA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1737360"/>
            <a:ext cx="3566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33172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5C0E24"/>
                </a:solidFill>
                <a:latin typeface="Calibri"/>
              </a:rPr>
              <a:t>Financial Health
Score 0–100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88036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  <a:latin typeface="Calibri"/>
              </a:rPr>
              <a:t>Behavioral metric,
dual-mode formula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645920"/>
            <a:ext cx="3566160" cy="1920240"/>
          </a:xfrm>
          <a:prstGeom prst="rect">
            <a:avLst/>
          </a:prstGeom>
          <a:solidFill>
            <a:srgbClr val="FAFA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1737360"/>
            <a:ext cx="3566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33172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5C0E24"/>
                </a:solidFill>
                <a:latin typeface="Calibri"/>
              </a:rPr>
              <a:t>Multi-Modal Input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88036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  <a:latin typeface="Calibri"/>
              </a:rPr>
              <a:t>Voice, OCR, Barcode,
Batch Screenshots (40+)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840480"/>
            <a:ext cx="3566160" cy="1920240"/>
          </a:xfrm>
          <a:prstGeom prst="rect">
            <a:avLst/>
          </a:prstGeom>
          <a:solidFill>
            <a:srgbClr val="FAFA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931920"/>
            <a:ext cx="3566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2628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5C0E24"/>
                </a:solidFill>
                <a:latin typeface="Calibri"/>
              </a:rPr>
              <a:t>Offline-First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07492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  <a:latin typeface="Calibri"/>
              </a:rPr>
              <a:t>SQLite + optional
Firebase sync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0" y="3840480"/>
            <a:ext cx="3566160" cy="1920240"/>
          </a:xfrm>
          <a:prstGeom prst="rect">
            <a:avLst/>
          </a:prstGeom>
          <a:solidFill>
            <a:srgbClr val="FAFA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0" y="3931920"/>
            <a:ext cx="3566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🇵🇭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52628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5C0E24"/>
                </a:solidFill>
                <a:latin typeface="Calibri"/>
              </a:rPr>
              <a:t>Filipino-First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507492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  <a:latin typeface="Calibri"/>
              </a:rPr>
              <a:t>Taglish AI, GCash,
SSS, PhilHealth, BIR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3840480"/>
            <a:ext cx="3566160" cy="1920240"/>
          </a:xfrm>
          <a:prstGeom prst="rect">
            <a:avLst/>
          </a:prstGeom>
          <a:solidFill>
            <a:srgbClr val="FAFA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3931920"/>
            <a:ext cx="3566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52628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5C0E24"/>
                </a:solidFill>
                <a:latin typeface="Calibri"/>
              </a:rPr>
              <a:t>Always Free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507492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  <a:latin typeface="Calibri"/>
              </a:rPr>
              <a:t>Gemini + Groq +
Cerebras free tier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5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30000" cy="859536"/>
          </a:xfrm>
          <a:prstGeom prst="rect">
            <a:avLst/>
          </a:prstGeom>
          <a:solidFill>
            <a:srgbClr val="E8F0FE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2194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C0E24"/>
                </a:solidFill>
                <a:latin typeface="Calibri"/>
              </a:rPr>
              <a:t>Flutter / Dart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143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A4A7F"/>
                </a:solidFill>
                <a:latin typeface="Calibri"/>
              </a:rPr>
              <a:t>App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463039"/>
            <a:ext cx="8869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Android (arm64-v8a), 45 MB, single codebase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84248"/>
            <a:ext cx="11430000" cy="859536"/>
          </a:xfrm>
          <a:prstGeom prst="rect">
            <a:avLst/>
          </a:prstGeom>
          <a:solidFill>
            <a:srgbClr val="FFF8E1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075688"/>
            <a:ext cx="2194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C0E24"/>
                </a:solidFill>
                <a:latin typeface="Calibri"/>
              </a:rPr>
              <a:t>SQLite v11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07568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A4A7F"/>
                </a:solidFill>
                <a:latin typeface="Calibri"/>
              </a:rPr>
              <a:t>Local Database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95728"/>
            <a:ext cx="8869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20 tables, offline-first, full CRUD without internet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916936"/>
            <a:ext cx="11430000" cy="859536"/>
          </a:xfrm>
          <a:prstGeom prst="rect">
            <a:avLst/>
          </a:prstGeom>
          <a:solidFill>
            <a:srgbClr val="E8F5E9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008376"/>
            <a:ext cx="2194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C0E24"/>
                </a:solidFill>
                <a:latin typeface="Calibri"/>
              </a:rPr>
              <a:t>Firebase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00837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A4A7F"/>
                </a:solidFill>
                <a:latin typeface="Calibri"/>
              </a:rPr>
              <a:t>Cloud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328416"/>
            <a:ext cx="8869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Firestore sync + Auth (Google/email) + Crashlytics + Remote Config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9624"/>
            <a:ext cx="11430000" cy="859536"/>
          </a:xfrm>
          <a:prstGeom prst="rect">
            <a:avLst/>
          </a:prstGeom>
          <a:solidFill>
            <a:srgbClr val="F3E5F5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941063"/>
            <a:ext cx="2194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C0E24"/>
                </a:solidFill>
                <a:latin typeface="Calibri"/>
              </a:rPr>
              <a:t>Gemini 3.1 Flash-Lite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3941063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A4A7F"/>
                </a:solidFill>
                <a:latin typeface="Calibri"/>
              </a:rPr>
              <a:t>Primary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261104"/>
            <a:ext cx="8869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1,000 req/day free — best Filipino-English, 1M token context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782312"/>
            <a:ext cx="11430000" cy="859536"/>
          </a:xfrm>
          <a:prstGeom prst="rect">
            <a:avLst/>
          </a:prstGeom>
          <a:solidFill>
            <a:srgbClr val="E3F2FD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873752"/>
            <a:ext cx="2194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C0E24"/>
                </a:solidFill>
                <a:latin typeface="Calibri"/>
              </a:rPr>
              <a:t>Groq LLaMA 3.3 70B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487375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A4A7F"/>
                </a:solidFill>
                <a:latin typeface="Calibri"/>
              </a:rPr>
              <a:t>Fallback LLM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5193792"/>
            <a:ext cx="8869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14,400 req/day free — best open-source reasoning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715000"/>
            <a:ext cx="11430000" cy="859536"/>
          </a:xfrm>
          <a:prstGeom prst="rect">
            <a:avLst/>
          </a:prstGeom>
          <a:solidFill>
            <a:srgbClr val="FBE9E7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806440"/>
            <a:ext cx="2194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C0E24"/>
                </a:solidFill>
                <a:latin typeface="Calibri"/>
              </a:rPr>
              <a:t>Google ML Kit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58064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A4A7F"/>
                </a:solidFill>
                <a:latin typeface="Calibri"/>
              </a:rPr>
              <a:t>OCR + Barcode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6126480"/>
            <a:ext cx="8869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On-device text recognition, no API key, works offline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Agentic AI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6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2103120" cy="1234440"/>
          </a:xfrm>
          <a:prstGeom prst="rect">
            <a:avLst/>
          </a:prstGeom>
          <a:solidFill>
            <a:srgbClr val="2A4A7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97280"/>
            <a:ext cx="2103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User Input
(Voice / Text / Camera / Screenshot)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1463040"/>
            <a:ext cx="256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5C0E24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679192" y="1097280"/>
            <a:ext cx="2103120" cy="1234440"/>
          </a:xfrm>
          <a:prstGeom prst="rect">
            <a:avLst/>
          </a:prstGeom>
          <a:solidFill>
            <a:srgbClr val="5C0E2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79192" y="1097280"/>
            <a:ext cx="2103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AI Parsing
(Gemini / Groq / Cerebras)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1463040"/>
            <a:ext cx="256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5C0E24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38344" y="1097280"/>
            <a:ext cx="2103120" cy="1234440"/>
          </a:xfrm>
          <a:prstGeom prst="rect">
            <a:avLst/>
          </a:prstGeom>
          <a:solidFill>
            <a:srgbClr val="C970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38344" y="1097280"/>
            <a:ext cx="2103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31 Action Types
(Intent Classification)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41464" y="1463040"/>
            <a:ext cx="256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5C0E24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97496" y="1097280"/>
            <a:ext cx="2103120" cy="1234440"/>
          </a:xfrm>
          <a:prstGeom prst="rect">
            <a:avLst/>
          </a:prstGeom>
          <a:solidFill>
            <a:srgbClr val="1A6B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97496" y="1097280"/>
            <a:ext cx="2103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SQLite Write
(Autonomous Action)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0616" y="1463040"/>
            <a:ext cx="256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5C0E24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56648" y="1097280"/>
            <a:ext cx="2103120" cy="1234440"/>
          </a:xfrm>
          <a:prstGeom prst="rect">
            <a:avLst/>
          </a:prstGeom>
          <a:solidFill>
            <a:srgbClr val="8B1A6B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56648" y="1097280"/>
            <a:ext cx="2103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FHS Update
(score_service.dart)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5146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C0E24"/>
                </a:solidFill>
                <a:latin typeface="Calibri"/>
              </a:rPr>
              <a:t>Perceive  →  Decide  →  Act  (genuine agentic loop)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A4A7F"/>
                </a:solidFill>
                <a:latin typeface="Calibri"/>
              </a:rPr>
              <a:t>5-Provider Auto-Failover (all free tier):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474720"/>
            <a:ext cx="2103120" cy="1234440"/>
          </a:xfrm>
          <a:prstGeom prst="rect">
            <a:avLst/>
          </a:prstGeom>
          <a:solidFill>
            <a:srgbClr val="F3E5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493008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C0E24"/>
                </a:solidFill>
                <a:latin typeface="Calibri"/>
              </a:rPr>
              <a:t>1. Gemini 3.1
Flash-Lite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16052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A4A7F"/>
                </a:solidFill>
                <a:latin typeface="Calibri"/>
              </a:rPr>
              <a:t>1,000/day
(primary)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88920" y="3474720"/>
            <a:ext cx="2103120" cy="1234440"/>
          </a:xfrm>
          <a:prstGeom prst="rect">
            <a:avLst/>
          </a:prstGeom>
          <a:solidFill>
            <a:srgbClr val="EDE7F6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8920" y="3493008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C0E24"/>
                </a:solidFill>
                <a:latin typeface="Calibri"/>
              </a:rPr>
              <a:t>2. Gemini 3.5
Flash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88920" y="416052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A4A7F"/>
                </a:solidFill>
                <a:latin typeface="Calibri"/>
              </a:rPr>
              <a:t>250/day
(fallback 1)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20640" y="3474720"/>
            <a:ext cx="2103120" cy="1234440"/>
          </a:xfrm>
          <a:prstGeom prst="rect">
            <a:avLst/>
          </a:prstGeom>
          <a:solidFill>
            <a:srgbClr val="E3F2FD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0" y="3493008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C0E24"/>
                </a:solidFill>
                <a:latin typeface="Calibri"/>
              </a:rPr>
              <a:t>3. Groq LLaMA
3.3 70B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0" y="416052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A4A7F"/>
                </a:solidFill>
                <a:latin typeface="Calibri"/>
              </a:rPr>
              <a:t>14,400/day
(fallback 2)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52359" y="3474720"/>
            <a:ext cx="2103120" cy="1234440"/>
          </a:xfrm>
          <a:prstGeom prst="rect">
            <a:avLst/>
          </a:prstGeom>
          <a:solidFill>
            <a:srgbClr val="E8F5E9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52359" y="3493008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C0E24"/>
                </a:solidFill>
                <a:latin typeface="Calibri"/>
              </a:rPr>
              <a:t>4. Groq LLaMA
3.1 8B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59" y="416052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A4A7F"/>
                </a:solidFill>
                <a:latin typeface="Calibri"/>
              </a:rPr>
              <a:t>14,400/day
(fallback 3)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784080" y="3474720"/>
            <a:ext cx="2103120" cy="1234440"/>
          </a:xfrm>
          <a:prstGeom prst="rect">
            <a:avLst/>
          </a:prstGeom>
          <a:solidFill>
            <a:srgbClr val="FFF8E1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3493008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C0E24"/>
                </a:solidFill>
                <a:latin typeface="Calibri"/>
              </a:rPr>
              <a:t>5. Cerebras
LLaMA 3.1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80" y="416052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A4A7F"/>
                </a:solidFill>
                <a:latin typeface="Calibri"/>
              </a:rPr>
              <a:t>1M tokens/day
(fallback 4)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846320"/>
            <a:ext cx="11247120" cy="822960"/>
          </a:xfrm>
          <a:prstGeom prst="rect">
            <a:avLst/>
          </a:prstGeom>
          <a:solidFill>
            <a:srgbClr val="FFF3F5"/>
          </a:solidFill>
          <a:ln w="19050">
            <a:solidFill>
              <a:srgbClr val="CC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9103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C0E24"/>
                </a:solidFill>
                <a:latin typeface="Calibri"/>
              </a:rPr>
              <a:t>💡  Why Context Injection (not RAG)?  Per-user data (~5K tokens) fits in one prompt. RAG adds vector-search overhead designed for thousands of documents — unnecessary here.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LLM Comparative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7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55555"/>
                </a:solidFill>
                <a:latin typeface="Calibri"/>
              </a:rPr>
              <a:t>Evaluation of 15 LLM APIs — Selection Criteria Weighted for Filipino-English Mobile Deployment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3657600" cy="566928"/>
          </a:xfrm>
          <a:prstGeom prst="rect">
            <a:avLst/>
          </a:prstGeom>
          <a:solidFill>
            <a:srgbClr val="EAD9E0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25%  Filipino-English Accuracy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417320"/>
            <a:ext cx="3657600" cy="566928"/>
          </a:xfrm>
          <a:prstGeom prst="rect">
            <a:avLst/>
          </a:prstGeom>
          <a:solidFill>
            <a:srgbClr val="DAE8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50876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20%  Speed / Latency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417320"/>
            <a:ext cx="3657600" cy="566928"/>
          </a:xfrm>
          <a:prstGeom prst="rect">
            <a:avLst/>
          </a:prstGeom>
          <a:solidFill>
            <a:srgbClr val="D9F0D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50876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20%  Tool Use / JSON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75688"/>
            <a:ext cx="3657600" cy="566928"/>
          </a:xfrm>
          <a:prstGeom prst="rect">
            <a:avLst/>
          </a:prstGeom>
          <a:solidFill>
            <a:srgbClr val="FFF8DC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6712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15%  Free Tier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2075688"/>
            <a:ext cx="3657600" cy="566928"/>
          </a:xfrm>
          <a:prstGeom prst="rect">
            <a:avLst/>
          </a:prstGeom>
          <a:solidFill>
            <a:srgbClr val="F0E6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16712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10%  Context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2075688"/>
            <a:ext cx="3657600" cy="566928"/>
          </a:xfrm>
          <a:prstGeom prst="rect">
            <a:avLst/>
          </a:prstGeom>
          <a:solidFill>
            <a:srgbClr val="FFE8D0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16712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10%  Financial Reasoning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8346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A4A7F"/>
                </a:solidFill>
                <a:latin typeface="Calibri"/>
              </a:rPr>
              <a:t>Selected Models (Top 5):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246120"/>
            <a:ext cx="2249424" cy="47548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291839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51760" y="3246120"/>
            <a:ext cx="1060704" cy="47548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97479" y="3291839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Provider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39" y="3246120"/>
            <a:ext cx="877824" cy="47548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94759" y="3291839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Speed (t/s)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3246120"/>
            <a:ext cx="786384" cy="47548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9159" y="3291839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Filipino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0" y="3246120"/>
            <a:ext cx="786384" cy="47548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32120" y="3291839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Tool 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3246120"/>
            <a:ext cx="1152144" cy="47548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3291839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Free Tier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98080" y="3246120"/>
            <a:ext cx="1243584" cy="47548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43800" y="3291839"/>
            <a:ext cx="1188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Role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776472"/>
            <a:ext cx="2249424" cy="475488"/>
          </a:xfrm>
          <a:prstGeom prst="rect">
            <a:avLst/>
          </a:prstGeom>
          <a:solidFill>
            <a:srgbClr val="FFF3E0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3822191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Gemini 3.1 Flash-Lite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51760" y="3776472"/>
            <a:ext cx="1060704" cy="475488"/>
          </a:xfrm>
          <a:prstGeom prst="rect">
            <a:avLst/>
          </a:prstGeom>
          <a:solidFill>
            <a:srgbClr val="FFF3E0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97479" y="3822191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Google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749039" y="3776472"/>
            <a:ext cx="877824" cy="475488"/>
          </a:xfrm>
          <a:prstGeom prst="rect">
            <a:avLst/>
          </a:prstGeom>
          <a:solidFill>
            <a:srgbClr val="FFF3E0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94759" y="3822191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~400–600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63440" y="3776472"/>
            <a:ext cx="786384" cy="475488"/>
          </a:xfrm>
          <a:prstGeom prst="rect">
            <a:avLst/>
          </a:prstGeom>
          <a:solidFill>
            <a:srgbClr val="FFF3E0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09159" y="3822191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★★★★★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0" y="3776472"/>
            <a:ext cx="786384" cy="475488"/>
          </a:xfrm>
          <a:prstGeom prst="rect">
            <a:avLst/>
          </a:prstGeom>
          <a:solidFill>
            <a:srgbClr val="FFF3E0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532120" y="3822191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★★★★★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3776472"/>
            <a:ext cx="1152144" cy="475488"/>
          </a:xfrm>
          <a:prstGeom prst="rect">
            <a:avLst/>
          </a:prstGeom>
          <a:solidFill>
            <a:srgbClr val="FFF3E0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5080" y="3822191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1,000/day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498080" y="3776472"/>
            <a:ext cx="1243584" cy="475488"/>
          </a:xfrm>
          <a:prstGeom prst="rect">
            <a:avLst/>
          </a:prstGeom>
          <a:solidFill>
            <a:srgbClr val="FFF3E0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543800" y="3822191"/>
            <a:ext cx="1188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✅ PRIMARY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306824"/>
            <a:ext cx="224942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4352544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Gemini 3.5 Flash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51760" y="4306824"/>
            <a:ext cx="106070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697479" y="4352544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Google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49039" y="4306824"/>
            <a:ext cx="87782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794759" y="4352544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~200–400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63440" y="4306824"/>
            <a:ext cx="7863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09159" y="4352544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★★★★★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0" y="4306824"/>
            <a:ext cx="7863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532120" y="4352544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★★★★★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4306824"/>
            <a:ext cx="115214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55080" y="4352544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250/day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498080" y="4306824"/>
            <a:ext cx="12435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543800" y="4352544"/>
            <a:ext cx="1188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✅ Fallback 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4837175"/>
            <a:ext cx="224942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11480" y="4882895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LLaMA 3.3 70B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651760" y="4837175"/>
            <a:ext cx="106070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697479" y="4882895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Groq LPU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749039" y="4837175"/>
            <a:ext cx="87782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794759" y="4882895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~315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663440" y="4837175"/>
            <a:ext cx="7863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709159" y="4882895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★★★★☆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400" y="4837175"/>
            <a:ext cx="7863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532120" y="4882895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★★★★★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09360" y="4837175"/>
            <a:ext cx="115214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55080" y="4882895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14,400/day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498080" y="4837175"/>
            <a:ext cx="12435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543800" y="4882895"/>
            <a:ext cx="1188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✅ Fallback 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5367527"/>
            <a:ext cx="224942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5413247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LLaMA 3.1 8B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651760" y="5367527"/>
            <a:ext cx="106070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697479" y="5413247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Groq LPU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749039" y="5367527"/>
            <a:ext cx="87782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794759" y="5413247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~800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663440" y="5367527"/>
            <a:ext cx="7863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09159" y="5413247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★★★★☆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486400" y="5367527"/>
            <a:ext cx="7863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532120" y="5413247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★★★★☆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09360" y="5367527"/>
            <a:ext cx="115214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55080" y="5413247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14,400/day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498080" y="5367527"/>
            <a:ext cx="12435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43800" y="5413247"/>
            <a:ext cx="1188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✅ Fallback 3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65760" y="5897879"/>
            <a:ext cx="224942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11480" y="5943599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LLaMA 3.1 70B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651760" y="5897879"/>
            <a:ext cx="106070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697479" y="5943599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Cerebras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749039" y="5897879"/>
            <a:ext cx="87782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794759" y="5943599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~1,800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663440" y="5897879"/>
            <a:ext cx="7863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709159" y="5943599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★★★★☆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486400" y="5897879"/>
            <a:ext cx="7863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532120" y="5943599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★★★★☆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309360" y="5897879"/>
            <a:ext cx="115214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355080" y="5943599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1M tokens/day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498080" y="5897879"/>
            <a:ext cx="12435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43800" y="5943599"/>
            <a:ext cx="1188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✅ Fallback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General LLMs vs Finance-Specialized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8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Why FinGPT, Fin-R1, and BloombergGPT are NOT the right choice for SmartSpend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89888"/>
            <a:ext cx="1691639" cy="914400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463040"/>
            <a:ext cx="159105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Task</a:t>
            </a:r>
          </a:p>
        </p:txBody>
      </p:sp>
      <p:sp>
        <p:nvSpPr>
          <p:cNvPr id="9" name="Rectangle 8"/>
          <p:cNvSpPr/>
          <p:nvPr/>
        </p:nvSpPr>
        <p:spPr>
          <a:xfrm>
            <a:off x="2148840" y="1389888"/>
            <a:ext cx="4709160" cy="914400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21992" y="1463040"/>
            <a:ext cx="460857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Finance-Specialized LLMs
(FinGPT, Fin-R1, BloombergGPT)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389888"/>
            <a:ext cx="4617720" cy="914400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22592" y="1463040"/>
            <a:ext cx="451713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General Multilingual LLMs
(Gemini 3.1, LLaMA 3.3 70B)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95728"/>
            <a:ext cx="1691639" cy="914400"/>
          </a:xfrm>
          <a:prstGeom prst="rect">
            <a:avLst/>
          </a:prstGeom>
          <a:solidFill>
            <a:srgbClr val="F5EEF0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" y="2468880"/>
            <a:ext cx="159105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Filipino-English
Expense Parsing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48840" y="2395728"/>
            <a:ext cx="4709160" cy="914400"/>
          </a:xfrm>
          <a:prstGeom prst="rect">
            <a:avLst/>
          </a:prstGeom>
          <a:solidFill>
            <a:srgbClr val="FFEBEE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21992" y="2468880"/>
            <a:ext cx="460857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0000"/>
                </a:solidFill>
                <a:latin typeface="Calibri"/>
              </a:rPr>
              <a:t>❌  Not trained on Tagalog/Filipino.
Poor on local merchant names.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49440" y="2395728"/>
            <a:ext cx="4617720" cy="914400"/>
          </a:xfrm>
          <a:prstGeom prst="rect">
            <a:avLst/>
          </a:prstGeom>
          <a:solidFill>
            <a:srgbClr val="E8F5E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468880"/>
            <a:ext cx="451713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6000"/>
                </a:solidFill>
                <a:latin typeface="Calibri"/>
              </a:rPr>
              <a:t>✅  Google training covers SEA languages.
Handles Taglish correctly.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401568"/>
            <a:ext cx="1691639" cy="914400"/>
          </a:xfrm>
          <a:prstGeom prst="rect">
            <a:avLst/>
          </a:prstGeom>
          <a:solidFill>
            <a:srgbClr val="FAFAFA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3474720"/>
            <a:ext cx="159105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Agentic JSON
Output (31 actions)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48840" y="3401568"/>
            <a:ext cx="4709160" cy="914400"/>
          </a:xfrm>
          <a:prstGeom prst="rect">
            <a:avLst/>
          </a:prstGeom>
          <a:solidFill>
            <a:srgbClr val="FFEBEE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21992" y="3474720"/>
            <a:ext cx="460857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0000"/>
                </a:solidFill>
                <a:latin typeface="Calibri"/>
              </a:rPr>
              <a:t>❌  No function calling support.
BloombergGPT has no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3401568"/>
            <a:ext cx="4617720" cy="914400"/>
          </a:xfrm>
          <a:prstGeom prst="rect">
            <a:avLst/>
          </a:prstGeom>
          <a:solidFill>
            <a:srgbClr val="E8F5E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22592" y="3474720"/>
            <a:ext cx="451713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6000"/>
                </a:solidFill>
                <a:latin typeface="Calibri"/>
              </a:rPr>
              <a:t>✅  Native function calling.
Reliable JSON output.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407408"/>
            <a:ext cx="1691639" cy="914400"/>
          </a:xfrm>
          <a:prstGeom prst="rect">
            <a:avLst/>
          </a:prstGeom>
          <a:solidFill>
            <a:srgbClr val="F5EEF0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4480560"/>
            <a:ext cx="159105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PH Financial
Advisory (SSS, BIR)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48840" y="4407408"/>
            <a:ext cx="4709160" cy="914400"/>
          </a:xfrm>
          <a:prstGeom prst="rect">
            <a:avLst/>
          </a:prstGeom>
          <a:solidFill>
            <a:srgbClr val="FFEBEE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21992" y="4480560"/>
            <a:ext cx="460857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0000"/>
                </a:solidFill>
                <a:latin typeface="Calibri"/>
              </a:rPr>
              <a:t>❌  Trained on US market data.
No PH government knowledge.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0" y="4407408"/>
            <a:ext cx="4617720" cy="914400"/>
          </a:xfrm>
          <a:prstGeom prst="rect">
            <a:avLst/>
          </a:prstGeom>
          <a:solidFill>
            <a:srgbClr val="E8F5E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22592" y="4480560"/>
            <a:ext cx="451713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6000"/>
                </a:solidFill>
                <a:latin typeface="Calibri"/>
              </a:rPr>
              <a:t>✅  Gemini includes PH gov sources.
Correct SSS/PhilHealth rates.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5413248"/>
            <a:ext cx="1691639" cy="914400"/>
          </a:xfrm>
          <a:prstGeom prst="rect">
            <a:avLst/>
          </a:prstGeom>
          <a:solidFill>
            <a:srgbClr val="FAFAFA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5486400"/>
            <a:ext cx="159105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Free API Access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48840" y="5413248"/>
            <a:ext cx="4709160" cy="914400"/>
          </a:xfrm>
          <a:prstGeom prst="rect">
            <a:avLst/>
          </a:prstGeom>
          <a:solidFill>
            <a:srgbClr val="FFEBEE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21992" y="5486400"/>
            <a:ext cx="460857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0000"/>
                </a:solidFill>
                <a:latin typeface="Calibri"/>
              </a:rPr>
              <a:t>❌  Self-hosted only (needs GPU).
No hosted free API.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49440" y="5413248"/>
            <a:ext cx="4617720" cy="914400"/>
          </a:xfrm>
          <a:prstGeom prst="rect">
            <a:avLst/>
          </a:prstGeom>
          <a:solidFill>
            <a:srgbClr val="E8F5E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22592" y="5486400"/>
            <a:ext cx="451713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6000"/>
                </a:solidFill>
                <a:latin typeface="Calibri"/>
              </a:rPr>
              <a:t>✅  Gemini: 1,000/day free.
Groq: 14,400/day free.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solidFill>
            <a:srgbClr val="FFF3F5"/>
          </a:solidFill>
          <a:ln w="19050">
            <a:solidFill>
              <a:srgbClr val="CC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📌  Conclusion (FrontierFinance Benchmark, 2026): Tool harness architecture matters more than model specialization. General multilingual LLMs outperform finance-specialized models on SmartSpend's Filipino-English consumer workload.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Financial Health Score (FHS)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9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55555"/>
                </a:solidFill>
                <a:latin typeface="Calibri"/>
              </a:rPr>
              <a:t>0 to 100 behavioral metric — computed from user transaction data — no surveys, no bank connectivity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303520" cy="411480"/>
          </a:xfrm>
          <a:prstGeom prst="rect">
            <a:avLst/>
          </a:prstGeom>
          <a:solidFill>
            <a:srgbClr val="2A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Full Mode  (Income Tracking 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417320"/>
            <a:ext cx="5852160" cy="41148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0" y="1417320"/>
            <a:ext cx="5852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Lightweight Mode  (Income Tracking OFF)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920240"/>
            <a:ext cx="5303520" cy="914400"/>
          </a:xfrm>
          <a:prstGeom prst="rect">
            <a:avLst/>
          </a:prstGeom>
          <a:solidFill>
            <a:srgbClr val="EEF4FF"/>
          </a:solidFill>
          <a:ln w="19050">
            <a:solidFill>
              <a:srgbClr val="AA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965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Savings Rate  (25 pts)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3134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ourier New"/>
              </a:rPr>
              <a:t>25 × min(1, savingsRate / 0.20)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578608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Basis: Warren &amp; Tyagi (2005) 50/30/20 rule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926080"/>
            <a:ext cx="5303520" cy="914400"/>
          </a:xfrm>
          <a:prstGeom prst="rect">
            <a:avLst/>
          </a:prstGeom>
          <a:solidFill>
            <a:srgbClr val="EEF4FF"/>
          </a:solidFill>
          <a:ln w="19050">
            <a:solidFill>
              <a:srgbClr val="AA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971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Overspend Control  (25 pts)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ourier New"/>
              </a:rPr>
              <a:t>25 × (1 − overDays / activeDays)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84448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Basis: FinHealth Score® Spend pillar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931920"/>
            <a:ext cx="5303520" cy="914400"/>
          </a:xfrm>
          <a:prstGeom prst="rect">
            <a:avLst/>
          </a:prstGeom>
          <a:solidFill>
            <a:srgbClr val="EEF4FF"/>
          </a:solidFill>
          <a:ln w="19050">
            <a:solidFill>
              <a:srgbClr val="AA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977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Budget Adherence  (25 pts)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3251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ourier New"/>
              </a:rPr>
              <a:t>25 × (onBudget / totalBudgets)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590288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Basis: Ramsey (2003) zero-based budgeting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937760"/>
            <a:ext cx="5303520" cy="914400"/>
          </a:xfrm>
          <a:prstGeom prst="rect">
            <a:avLst/>
          </a:prstGeom>
          <a:solidFill>
            <a:srgbClr val="EEF4FF"/>
          </a:solidFill>
          <a:ln w="19050">
            <a:solidFill>
              <a:srgbClr val="AA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983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Logging Consistency  (25 pts)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3309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ourier New"/>
              </a:rPr>
              <a:t>25 × (loggedDays / activeDays)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96128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Basis: Thaler &amp; Sunstein (2008) nudge theory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0" y="1920240"/>
            <a:ext cx="5852160" cy="914400"/>
          </a:xfrm>
          <a:prstGeom prst="rect">
            <a:avLst/>
          </a:prstGeom>
          <a:solidFill>
            <a:srgbClr val="EFFFEF"/>
          </a:solidFill>
          <a:ln w="19050">
            <a:solidFill>
              <a:srgbClr val="AAD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80760" y="196596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3A"/>
                </a:solidFill>
                <a:latin typeface="Calibri"/>
              </a:rPr>
              <a:t>Spending Restraint  (25 pts)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239572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vs user-set spending limit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2926080"/>
            <a:ext cx="5852160" cy="914400"/>
          </a:xfrm>
          <a:prstGeom prst="rect">
            <a:avLst/>
          </a:prstGeom>
          <a:solidFill>
            <a:srgbClr val="EFFFEF"/>
          </a:solidFill>
          <a:ln w="19050">
            <a:solidFill>
              <a:srgbClr val="AAD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80760" y="2971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3A"/>
                </a:solidFill>
                <a:latin typeface="Calibri"/>
              </a:rPr>
              <a:t>Logging Consistency  (25 pts)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340156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same formula as Full Mode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0" y="3931920"/>
            <a:ext cx="5852160" cy="914400"/>
          </a:xfrm>
          <a:prstGeom prst="rect">
            <a:avLst/>
          </a:prstGeom>
          <a:solidFill>
            <a:srgbClr val="EFFFEF"/>
          </a:solidFill>
          <a:ln w="19050">
            <a:solidFill>
              <a:srgbClr val="AAD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39776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3A"/>
                </a:solidFill>
                <a:latin typeface="Calibri"/>
              </a:rPr>
              <a:t>Category Balance  (25 pts)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440740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no single category &gt; 40%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4937760"/>
            <a:ext cx="5852160" cy="914400"/>
          </a:xfrm>
          <a:prstGeom prst="rect">
            <a:avLst/>
          </a:prstGeom>
          <a:solidFill>
            <a:srgbClr val="EFFFEF"/>
          </a:solidFill>
          <a:ln w="19050">
            <a:solidFill>
              <a:srgbClr val="AAD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49834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3A"/>
                </a:solidFill>
                <a:latin typeface="Calibri"/>
              </a:rPr>
              <a:t>Habit Streak  (25 pts)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541324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14-day streak = full score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5989320"/>
            <a:ext cx="11430000" cy="731520"/>
          </a:xfrm>
          <a:prstGeom prst="rect">
            <a:avLst/>
          </a:prstGeom>
          <a:solidFill>
            <a:srgbClr val="FFF0F3"/>
          </a:solidFill>
          <a:ln w="19050">
            <a:solidFill>
              <a:srgbClr val="CC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6053328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C0E24"/>
                </a:solidFill>
                <a:latin typeface="Calibri"/>
              </a:rPr>
              <a:t>⚠️  Score Adjustments:  Warning Decay (−5 pts/day, max −15) — ignoring budget warnings  |  Gap Adjustment (−3 or +2 pts/day) — unlogged days confirmed by user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Comparative Study — SmartSpend vs Existing Apps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10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22 apps reviewed (14 international, 8 Philippine-context)  |  August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2066543" cy="521207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" y="1444752"/>
            <a:ext cx="19933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Feature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2468879" y="1371600"/>
            <a:ext cx="1335024" cy="521207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23744" y="1444752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SmartSpend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79" y="1371600"/>
            <a:ext cx="1152144" cy="521207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95343" y="1444752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YNAB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199" y="1371600"/>
            <a:ext cx="1335024" cy="521207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3" y="1444752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Monarch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799" y="1371600"/>
            <a:ext cx="1335024" cy="521207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3" y="1444752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BudgetPH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1371600"/>
            <a:ext cx="1426464" cy="521207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27264" y="1444752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Alkansya 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1371600"/>
            <a:ext cx="1335024" cy="521207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0304" y="1444752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Pera Coach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947672"/>
            <a:ext cx="2066543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624" y="2020824"/>
            <a:ext cx="19933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31 Agentic AI Actions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68879" y="1947672"/>
            <a:ext cx="1335024" cy="521207"/>
          </a:xfrm>
          <a:prstGeom prst="rect">
            <a:avLst/>
          </a:prstGeom>
          <a:solidFill>
            <a:srgbClr val="FFF0E8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23744" y="2020824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✅ 31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79" y="1947672"/>
            <a:ext cx="115214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95343" y="2020824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199" y="1947672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84063" y="2020824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799" y="1947672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55663" y="2020824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 Insights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0" y="1947672"/>
            <a:ext cx="142646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27264" y="2020824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1947672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90304" y="2020824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2523744"/>
            <a:ext cx="2066543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0624" y="2596896"/>
            <a:ext cx="19933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Filipino-English AI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68879" y="2523744"/>
            <a:ext cx="1335024" cy="521207"/>
          </a:xfrm>
          <a:prstGeom prst="rect">
            <a:avLst/>
          </a:prstGeom>
          <a:solidFill>
            <a:srgbClr val="FFF0E8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23744" y="259689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✅ Full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79" y="2523744"/>
            <a:ext cx="115214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95343" y="2596896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199" y="2523744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84063" y="259689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799" y="2523744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5663" y="259689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72400" y="2523744"/>
            <a:ext cx="142646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27264" y="2596896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B3A"/>
                </a:solidFill>
                <a:latin typeface="Calibri"/>
              </a:rPr>
              <a:t>✅ iOS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35440" y="2523744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90304" y="259689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B3A"/>
                </a:solidFill>
                <a:latin typeface="Calibri"/>
              </a:rPr>
              <a:t>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3099816"/>
            <a:ext cx="2066543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0624" y="3172968"/>
            <a:ext cx="19933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Financial Health Score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468879" y="3099816"/>
            <a:ext cx="1335024" cy="521207"/>
          </a:xfrm>
          <a:prstGeom prst="rect">
            <a:avLst/>
          </a:prstGeom>
          <a:solidFill>
            <a:srgbClr val="FFF0E8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23744" y="3172968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✅ 0–100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79" y="3099816"/>
            <a:ext cx="115214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895343" y="3172968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199" y="3099816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84063" y="3172968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799" y="3099816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55663" y="3172968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B3A"/>
                </a:solidFill>
                <a:latin typeface="Calibri"/>
              </a:rPr>
              <a:t>✅ Simpler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72400" y="3099816"/>
            <a:ext cx="142646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27264" y="3172968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B3A"/>
                </a:solidFill>
                <a:latin typeface="Calibri"/>
              </a:rPr>
              <a:t>✅ Web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235440" y="3099816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290304" y="3172968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3675887"/>
            <a:ext cx="2066543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0624" y="3749039"/>
            <a:ext cx="19933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Offline Mode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468879" y="3675887"/>
            <a:ext cx="1335024" cy="521207"/>
          </a:xfrm>
          <a:prstGeom prst="rect">
            <a:avLst/>
          </a:prstGeom>
          <a:solidFill>
            <a:srgbClr val="FFF0E8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523744" y="3749039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✅ Full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840479" y="3675887"/>
            <a:ext cx="115214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895343" y="3749039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199" y="3675887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84063" y="3749039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00799" y="3675887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55663" y="3749039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B3A"/>
                </a:solidFill>
                <a:latin typeface="Calibri"/>
              </a:rPr>
              <a:t>✅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772400" y="3675887"/>
            <a:ext cx="142646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27264" y="3749039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235440" y="3675887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290304" y="3749039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5760" y="4251960"/>
            <a:ext cx="2066543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0624" y="4325112"/>
            <a:ext cx="19933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Batch Screenshots (40+)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468879" y="4251960"/>
            <a:ext cx="1335024" cy="521207"/>
          </a:xfrm>
          <a:prstGeom prst="rect">
            <a:avLst/>
          </a:prstGeom>
          <a:solidFill>
            <a:srgbClr val="FFF0E8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523744" y="4325112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✅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840479" y="4251960"/>
            <a:ext cx="115214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895343" y="4325112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029199" y="4251960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084063" y="4325112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400799" y="4251960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55663" y="4325112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772400" y="4251960"/>
            <a:ext cx="142646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827264" y="4325112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235440" y="4251960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290304" y="4325112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65760" y="4828032"/>
            <a:ext cx="2066543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20624" y="4901184"/>
            <a:ext cx="19933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Voice Input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468879" y="4828032"/>
            <a:ext cx="1335024" cy="521207"/>
          </a:xfrm>
          <a:prstGeom prst="rect">
            <a:avLst/>
          </a:prstGeom>
          <a:solidFill>
            <a:srgbClr val="FFF0E8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523744" y="4901184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✅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840479" y="4828032"/>
            <a:ext cx="115214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895343" y="4901184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029199" y="4828032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84063" y="4901184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400799" y="4828032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55663" y="4901184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772400" y="4828032"/>
            <a:ext cx="142646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827264" y="4901184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235440" y="4828032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290304" y="4901184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404104"/>
            <a:ext cx="2066543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20624" y="5477256"/>
            <a:ext cx="19933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Free (Android)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468879" y="5404104"/>
            <a:ext cx="1335024" cy="521207"/>
          </a:xfrm>
          <a:prstGeom prst="rect">
            <a:avLst/>
          </a:prstGeom>
          <a:solidFill>
            <a:srgbClr val="FFF0E8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523744" y="547725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✅ Always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840479" y="5404104"/>
            <a:ext cx="115214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895343" y="5477256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029199" y="5404104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084063" y="547725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400799" y="5404104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455663" y="547725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B3A"/>
                </a:solidFill>
                <a:latin typeface="Calibri"/>
              </a:rPr>
              <a:t>✅ PWA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772400" y="5404104"/>
            <a:ext cx="142646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827264" y="5477256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 iOS+$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235440" y="5404104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290304" y="547725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B3A"/>
                </a:solidFill>
                <a:latin typeface="Calibri"/>
              </a:rPr>
              <a:t>✅ GCash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65760" y="5980176"/>
            <a:ext cx="2066543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20624" y="6053328"/>
            <a:ext cx="19933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Gamification (Badges)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468879" y="5980176"/>
            <a:ext cx="1335024" cy="521207"/>
          </a:xfrm>
          <a:prstGeom prst="rect">
            <a:avLst/>
          </a:prstGeom>
          <a:solidFill>
            <a:srgbClr val="FFF0E8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523744" y="6053328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✅ 23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840479" y="5980176"/>
            <a:ext cx="115214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895343" y="6053328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029199" y="5980176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084063" y="6053328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400799" y="5980176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455663" y="6053328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B3A"/>
                </a:solidFill>
                <a:latin typeface="Calibri"/>
              </a:rPr>
              <a:t>✅ XP/lvl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772400" y="5980176"/>
            <a:ext cx="142646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827264" y="6053328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235440" y="5980176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290304" y="6053328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Multi-Modal Input &amp; Smart Import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11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2743200" cy="2286000"/>
          </a:xfrm>
          <a:prstGeom prst="rect">
            <a:avLst/>
          </a:prstGeom>
          <a:solidFill>
            <a:srgbClr val="2A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📹
Live Camera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Barcode/QR live detection
+ Receipt mode OCR
+ Torch toggle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097280"/>
            <a:ext cx="2743200" cy="22860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1430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🖼️
Single Photo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29968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Auto-routes: barcode,
receipt, or screenshot
based on content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097280"/>
            <a:ext cx="2743200" cy="228600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1430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📱
Batch Screenshots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029968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Up to 10 images
Auto-detects 40+ platforms
AI prompt per platform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1097280"/>
            <a:ext cx="2743200" cy="2286000"/>
          </a:xfrm>
          <a:prstGeom prst="rect">
            <a:avLst/>
          </a:prstGeom>
          <a:solidFill>
            <a:srgbClr val="C9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1430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📋
Paste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029968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GCash/BPI/Maya
bank export text
OCR text import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5661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C0E24"/>
                </a:solidFill>
                <a:latin typeface="Calibri"/>
              </a:rPr>
              <a:t>40+ platforms auto-detected with platform-specific AI extraction prompts: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977639"/>
            <a:ext cx="11247120" cy="457200"/>
          </a:xfrm>
          <a:prstGeom prst="rect">
            <a:avLst/>
          </a:prstGeom>
          <a:solidFill>
            <a:srgbClr val="F8F8F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04164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🛍️  Shopee, Lazada, TikTok Shop, Carousell, Amazon, AliExpress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489704"/>
            <a:ext cx="11247120" cy="457200"/>
          </a:xfrm>
          <a:prstGeom prst="rect">
            <a:avLst/>
          </a:prstGeom>
          <a:solidFill>
            <a:srgbClr val="F8F8F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553712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🎮  Steam, Google Play, App Store, Codashop, Garena, MLBB, Genshin, Valorant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001768"/>
            <a:ext cx="11247120" cy="457200"/>
          </a:xfrm>
          <a:prstGeom prst="rect">
            <a:avLst/>
          </a:prstGeom>
          <a:solidFill>
            <a:srgbClr val="F8F8F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065776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💳  GCash, Maya, GrabPay, ShopeePay, Coins.ph, PayPal, BPI, BDO, UnionBank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13831"/>
            <a:ext cx="11247120" cy="457200"/>
          </a:xfrm>
          <a:prstGeom prst="rect">
            <a:avLst/>
          </a:prstGeom>
          <a:solidFill>
            <a:srgbClr val="F8F8F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57784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🚗  GrabFood, Foodpanda, Grab rides, Angkas, Maxim, Lalamove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025896"/>
            <a:ext cx="11247120" cy="457200"/>
          </a:xfrm>
          <a:prstGeom prst="rect">
            <a:avLst/>
          </a:prstGeom>
          <a:solidFill>
            <a:srgbClr val="F8F8F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6089904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🎬  Netflix, Spotify, YouTube Premium, Disney+, Viu, Vivamax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Research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12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1591056" cy="50292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97280"/>
            <a:ext cx="15910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1. Backlog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1591056" cy="502920"/>
          </a:xfrm>
          <a:prstGeom prst="rect">
            <a:avLst/>
          </a:prstGeom>
          <a:solidFill>
            <a:srgbClr val="EAD9E0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02536" y="1097280"/>
            <a:ext cx="1591056" cy="50292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02536" y="1097280"/>
            <a:ext cx="15910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2. Requirements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02536" y="1627632"/>
            <a:ext cx="1591056" cy="502920"/>
          </a:xfrm>
          <a:prstGeom prst="rect">
            <a:avLst/>
          </a:prstGeom>
          <a:solidFill>
            <a:srgbClr val="DAE8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85032" y="1097280"/>
            <a:ext cx="1591056" cy="50292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85032" y="1097280"/>
            <a:ext cx="15910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3. Design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85032" y="1627632"/>
            <a:ext cx="1591056" cy="502920"/>
          </a:xfrm>
          <a:prstGeom prst="rect">
            <a:avLst/>
          </a:prstGeom>
          <a:solidFill>
            <a:srgbClr val="D9EA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67528" y="1097280"/>
            <a:ext cx="1591056" cy="50292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1097280"/>
            <a:ext cx="15910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4. Development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67528" y="1627632"/>
            <a:ext cx="1591056" cy="502920"/>
          </a:xfrm>
          <a:prstGeom prst="rect">
            <a:avLst/>
          </a:prstGeom>
          <a:solidFill>
            <a:srgbClr val="D9F0D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50024" y="1097280"/>
            <a:ext cx="1591056" cy="50292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50024" y="1097280"/>
            <a:ext cx="15910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5. Testing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50024" y="1627632"/>
            <a:ext cx="1591056" cy="502920"/>
          </a:xfrm>
          <a:prstGeom prst="rect">
            <a:avLst/>
          </a:prstGeom>
          <a:solidFill>
            <a:srgbClr val="FFF8DC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32520" y="1097280"/>
            <a:ext cx="1591056" cy="50292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1097280"/>
            <a:ext cx="15910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6. Deployment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1627632"/>
            <a:ext cx="1591056" cy="502920"/>
          </a:xfrm>
          <a:prstGeom prst="rect">
            <a:avLst/>
          </a:prstGeom>
          <a:solidFill>
            <a:srgbClr val="FFE8D0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15016" y="1097280"/>
            <a:ext cx="1591056" cy="50292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15016" y="1097280"/>
            <a:ext cx="15910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7. Done/Review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15016" y="1627632"/>
            <a:ext cx="1591056" cy="502920"/>
          </a:xfrm>
          <a:prstGeom prst="rect">
            <a:avLst/>
          </a:prstGeom>
          <a:solidFill>
            <a:srgbClr val="F0E6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240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Agile Kanban Methodology — 7 phases, each producing a deliverable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788920"/>
            <a:ext cx="3703320" cy="1828800"/>
          </a:xfrm>
          <a:prstGeom prst="rect">
            <a:avLst/>
          </a:prstGeom>
          <a:solidFill>
            <a:srgbClr val="E8F0FE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288036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C0E24"/>
                </a:solidFill>
                <a:latin typeface="Calibri"/>
              </a:rPr>
              <a:t>Research Design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319272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Mixed Methods
(Developmental + Descriptive)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51960" y="2788920"/>
            <a:ext cx="3703320" cy="1828800"/>
          </a:xfrm>
          <a:prstGeom prst="rect">
            <a:avLst/>
          </a:prstGeom>
          <a:solidFill>
            <a:srgbClr val="FFF0F3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43400" y="288036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C0E24"/>
                </a:solidFill>
                <a:latin typeface="Calibri"/>
              </a:rPr>
              <a:t>Population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3319272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30 Respondents:
20 Parents (35–55)
10 Young Professionals (21–35)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60" y="2788920"/>
            <a:ext cx="3703320" cy="1828800"/>
          </a:xfrm>
          <a:prstGeom prst="rect">
            <a:avLst/>
          </a:prstGeom>
          <a:solidFill>
            <a:srgbClr val="E8F5E9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288036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C0E24"/>
                </a:solidFill>
                <a:latin typeface="Calibri"/>
              </a:rPr>
              <a:t>Sampling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3319272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Purposive Sampling
La Union, Philippines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754879"/>
            <a:ext cx="3703320" cy="1828800"/>
          </a:xfrm>
          <a:prstGeom prst="rect">
            <a:avLst/>
          </a:prstGeom>
          <a:solidFill>
            <a:srgbClr val="FFF8DC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846319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C0E24"/>
                </a:solidFill>
                <a:latin typeface="Calibri"/>
              </a:rPr>
              <a:t>Data Tools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285231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Structured Survey
(Obj. 1)  +  SUS (Obj. 3)
+  Expert Validators (Obj. 2)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51960" y="4754879"/>
            <a:ext cx="3703320" cy="1828800"/>
          </a:xfrm>
          <a:prstGeom prst="rect">
            <a:avLst/>
          </a:prstGeom>
          <a:solidFill>
            <a:srgbClr val="F3E5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43400" y="4846319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C0E24"/>
                </a:solidFill>
                <a:latin typeface="Calibri"/>
              </a:rPr>
              <a:t>Evaluation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43400" y="5285231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System Usability Scale
(Brooke, 1996)
Target: SUS ≥ 80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38160" y="4754879"/>
            <a:ext cx="3703320" cy="1828800"/>
          </a:xfrm>
          <a:prstGeom prst="rect">
            <a:avLst/>
          </a:prstGeom>
          <a:solidFill>
            <a:srgbClr val="E0F7F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0" y="4846319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C0E24"/>
                </a:solidFill>
                <a:latin typeface="Calibri"/>
              </a:rPr>
              <a:t>Framework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5285231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IPO Model
(Input–Process–Output)
Conceptual Framework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Usability Evaluation — SUS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13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1097280"/>
            <a:ext cx="5760720" cy="2560320"/>
          </a:xfrm>
          <a:prstGeom prst="rect">
            <a:avLst/>
          </a:prstGeom>
          <a:solidFill>
            <a:srgbClr val="F5EEF0"/>
          </a:solidFill>
          <a:ln w="19050">
            <a:solidFill>
              <a:srgbClr val="5C0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1188720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5C0E24"/>
                </a:solidFill>
                <a:latin typeface="Calibri"/>
              </a:rPr>
              <a:t>Overall SUS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73736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5C0E24"/>
                </a:solidFill>
                <a:latin typeface="Calibri"/>
              </a:rPr>
              <a:t>[ _____ / 100 ]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880360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22"/>
                </a:solidFill>
                <a:latin typeface="Calibri"/>
              </a:rPr>
              <a:t>Grade: ___  |  Adjective: _______________  |  n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4290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  <a:latin typeface="Calibri"/>
              </a:rPr>
              <a:t>(To be completed after Week 7 SUS administration)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86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SUS Score Interpretation Scale (Bangor et al., 2009):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343400"/>
            <a:ext cx="137160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440740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≥ 90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83080" y="4343400"/>
            <a:ext cx="73152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4407408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A+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0" y="4343400"/>
            <a:ext cx="201168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6039" y="4407408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Best Imaginable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17720" y="4343400"/>
            <a:ext cx="182880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440740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Acceptable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4343400"/>
            <a:ext cx="4572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407408"/>
            <a:ext cx="-45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818888"/>
            <a:ext cx="137160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4882896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85–89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83080" y="4818888"/>
            <a:ext cx="73152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0" y="4882896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4818888"/>
            <a:ext cx="201168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06039" y="4882896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Excellent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17720" y="4818888"/>
            <a:ext cx="182880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4882896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Acceptable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4818888"/>
            <a:ext cx="4572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59" y="4882896"/>
            <a:ext cx="-45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294376"/>
            <a:ext cx="1371600" cy="420624"/>
          </a:xfrm>
          <a:prstGeom prst="rect">
            <a:avLst/>
          </a:prstGeom>
          <a:solidFill>
            <a:srgbClr val="A5D6A7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5358384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2222"/>
                </a:solidFill>
                <a:latin typeface="Calibri"/>
              </a:rPr>
              <a:t>80–84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83080" y="5294376"/>
            <a:ext cx="731520" cy="420624"/>
          </a:xfrm>
          <a:prstGeom prst="rect">
            <a:avLst/>
          </a:prstGeom>
          <a:solidFill>
            <a:srgbClr val="A5D6A7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0" y="5358384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2222"/>
                </a:solidFill>
                <a:latin typeface="Calibri"/>
              </a:rPr>
              <a:t>B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60320" y="5294376"/>
            <a:ext cx="2011680" cy="420624"/>
          </a:xfrm>
          <a:prstGeom prst="rect">
            <a:avLst/>
          </a:prstGeom>
          <a:solidFill>
            <a:srgbClr val="A5D6A7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06039" y="5358384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2222"/>
                </a:solidFill>
                <a:latin typeface="Calibri"/>
              </a:rPr>
              <a:t>Good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17720" y="5294376"/>
            <a:ext cx="1828800" cy="420624"/>
          </a:xfrm>
          <a:prstGeom prst="rect">
            <a:avLst/>
          </a:prstGeom>
          <a:solidFill>
            <a:srgbClr val="A5D6A7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63440" y="5358384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2222"/>
                </a:solidFill>
                <a:latin typeface="Calibri"/>
              </a:rPr>
              <a:t>Acceptable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5294376"/>
            <a:ext cx="45720" cy="420624"/>
          </a:xfrm>
          <a:prstGeom prst="rect">
            <a:avLst/>
          </a:prstGeom>
          <a:solidFill>
            <a:srgbClr val="A5D6A7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37959" y="5358384"/>
            <a:ext cx="-45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C0E24"/>
                </a:solidFill>
                <a:latin typeface="Calibri"/>
              </a:rPr>
              <a:t>← TARGET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5769864"/>
            <a:ext cx="1371600" cy="420624"/>
          </a:xfrm>
          <a:prstGeom prst="rect">
            <a:avLst/>
          </a:prstGeom>
          <a:solidFill>
            <a:srgbClr val="FFF9C4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583387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70–79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783080" y="5769864"/>
            <a:ext cx="731520" cy="420624"/>
          </a:xfrm>
          <a:prstGeom prst="rect">
            <a:avLst/>
          </a:prstGeom>
          <a:solidFill>
            <a:srgbClr val="FFF9C4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28800" y="5833872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C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60320" y="5769864"/>
            <a:ext cx="2011680" cy="420624"/>
          </a:xfrm>
          <a:prstGeom prst="rect">
            <a:avLst/>
          </a:prstGeom>
          <a:solidFill>
            <a:srgbClr val="FFF9C4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06039" y="5833872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OK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17720" y="5769864"/>
            <a:ext cx="1828800" cy="420624"/>
          </a:xfrm>
          <a:prstGeom prst="rect">
            <a:avLst/>
          </a:prstGeom>
          <a:solidFill>
            <a:srgbClr val="FFF9C4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63440" y="583387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Marginal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92240" y="5769864"/>
            <a:ext cx="45720" cy="420624"/>
          </a:xfrm>
          <a:prstGeom prst="rect">
            <a:avLst/>
          </a:prstGeom>
          <a:solidFill>
            <a:srgbClr val="FFF9C4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37959" y="5833872"/>
            <a:ext cx="-45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6245352"/>
            <a:ext cx="1371600" cy="420624"/>
          </a:xfrm>
          <a:prstGeom prst="rect">
            <a:avLst/>
          </a:prstGeom>
          <a:solidFill>
            <a:srgbClr val="FFCCBC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6309360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&lt; 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783080" y="6245352"/>
            <a:ext cx="731520" cy="420624"/>
          </a:xfrm>
          <a:prstGeom prst="rect">
            <a:avLst/>
          </a:prstGeom>
          <a:solidFill>
            <a:srgbClr val="FFCCBC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828800" y="6309360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D/F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560320" y="6245352"/>
            <a:ext cx="2011680" cy="420624"/>
          </a:xfrm>
          <a:prstGeom prst="rect">
            <a:avLst/>
          </a:prstGeom>
          <a:solidFill>
            <a:srgbClr val="FFCCBC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606039" y="630936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Poor – Awful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617720" y="6245352"/>
            <a:ext cx="1828800" cy="420624"/>
          </a:xfrm>
          <a:prstGeom prst="rect">
            <a:avLst/>
          </a:prstGeom>
          <a:solidFill>
            <a:srgbClr val="FFCCBC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63440" y="630936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Not Acceptable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92240" y="6245352"/>
            <a:ext cx="45720" cy="420624"/>
          </a:xfrm>
          <a:prstGeom prst="rect">
            <a:avLst/>
          </a:prstGeom>
          <a:solidFill>
            <a:srgbClr val="FFCCBC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37959" y="6309360"/>
            <a:ext cx="-45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649224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Respondents: 20 Parents (35–55)  +  10 Young Professionals (21–35)  |  Administered after guided live demo using SmartSpend Demo Mode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Demo Overview — 8–9 Minute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14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5696712" cy="1280160"/>
          </a:xfrm>
          <a:prstGeom prst="rect">
            <a:avLst/>
          </a:prstGeom>
          <a:solidFill>
            <a:srgbClr val="EAD9E0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0:00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17043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30s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17043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🏠 Home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FHS score card, spending summary, wallet card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81928" y="1097280"/>
            <a:ext cx="5696712" cy="1280160"/>
          </a:xfrm>
          <a:prstGeom prst="rect">
            <a:avLst/>
          </a:prstGeom>
          <a:solidFill>
            <a:srgbClr val="DAE8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17043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0:30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96328" y="117043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2min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17043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🤖 AI Chat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173736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Voice → text → wallet update → PH advisory question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514600"/>
            <a:ext cx="5696712" cy="1280160"/>
          </a:xfrm>
          <a:prstGeom prst="rect">
            <a:avLst/>
          </a:prstGeom>
          <a:solidFill>
            <a:srgbClr val="D9F0D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58775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2:30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258775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1.5min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258775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📷 Smart Import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15468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4-mode sheet, Batch Screenshots demo (40+ platforms)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81928" y="2514600"/>
            <a:ext cx="5696712" cy="1280160"/>
          </a:xfrm>
          <a:prstGeom prst="rect">
            <a:avLst/>
          </a:prstGeom>
          <a:solidFill>
            <a:srgbClr val="FFF8DC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258775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4:00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258775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1.5min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5008" y="258775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💵 Wallets &amp; Settings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315468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Wallet card, Log Allowance, Balance Mode toggle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931920"/>
            <a:ext cx="5696712" cy="1280160"/>
          </a:xfrm>
          <a:prstGeom prst="rect">
            <a:avLst/>
          </a:prstGeom>
          <a:solidFill>
            <a:srgbClr val="F3E5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00507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5:30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400507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1.5min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48840" y="400507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📊 Analytics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57200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Pie chart, 50/30/20, FHS trend, market insights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81928" y="3931920"/>
            <a:ext cx="5696712" cy="1280160"/>
          </a:xfrm>
          <a:prstGeom prst="rect">
            <a:avLst/>
          </a:prstGeom>
          <a:solidFill>
            <a:srgbClr val="FFE8D0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73368" y="400507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7:00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00507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1min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5008" y="400507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🏥 FHS Breakdown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3368" y="457200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Tap score card, all 4 components, "Ask AI" link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349240"/>
            <a:ext cx="5696712" cy="1280160"/>
          </a:xfrm>
          <a:prstGeom prst="rect">
            <a:avLst/>
          </a:prstGeom>
          <a:solidFill>
            <a:srgbClr val="E0F7F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42239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8:00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" y="542239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30s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48840" y="542239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🎮 Gamification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598932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Daily quests, mood check-in, achievement badges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81928" y="5349240"/>
            <a:ext cx="5696712" cy="1280160"/>
          </a:xfrm>
          <a:prstGeom prst="rect">
            <a:avLst/>
          </a:prstGeom>
          <a:solidFill>
            <a:srgbClr val="F0E6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73368" y="542239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8:30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96328" y="542239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30s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65008" y="542239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🎬 Architecture + Close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3368" y="598932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Serverless, context injection, Filipino-first design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6519672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📌  Before presenting: Reset AI limit (AI screen → ⋮ → Reset Daily Limit)  |  Load Demo Data if needed (Profile → Load Demo Data)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Conclusions &amp;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15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11430000" cy="1417320"/>
          </a:xfrm>
          <a:prstGeom prst="rect">
            <a:avLst/>
          </a:prstGeom>
          <a:solidFill>
            <a:srgbClr val="EAD9E0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1463040" cy="141732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71600"/>
            <a:ext cx="1463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Objective 1
(Assessment)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325880"/>
            <a:ext cx="96926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Calibri"/>
              </a:rPr>
              <a:t>Confirmed: Filipinos face manual effort burden, irregular budgeting, and lack of proactive financial feedback — validating SmartSpend's core design rationale.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651760"/>
            <a:ext cx="11430000" cy="1417320"/>
          </a:xfrm>
          <a:prstGeom prst="rect">
            <a:avLst/>
          </a:prstGeom>
          <a:solidFill>
            <a:srgbClr val="DAE8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651760"/>
            <a:ext cx="1463040" cy="1417320"/>
          </a:xfrm>
          <a:prstGeom prst="rect">
            <a:avLst/>
          </a:prstGeom>
          <a:solidFill>
            <a:srgbClr val="2A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926079"/>
            <a:ext cx="1463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Objective 2
(Development)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880360"/>
            <a:ext cx="96926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Calibri"/>
              </a:rPr>
              <a:t>SmartSpend v2.9.10 fully developed: 31 agentic actions, dual-mode FHS, 5-provider failover, 40+ screenshot platforms, all free-tier stack. Gemini 3.1 Flash-Lite confirmed as optimal primary model.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206240"/>
            <a:ext cx="11430000" cy="1417320"/>
          </a:xfrm>
          <a:prstGeom prst="rect">
            <a:avLst/>
          </a:prstGeom>
          <a:solidFill>
            <a:srgbClr val="D9F0D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4206240"/>
            <a:ext cx="1463040" cy="141732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480559"/>
            <a:ext cx="1463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Objective 3
(SUS Evaluation)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4434840"/>
            <a:ext cx="96926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Calibri"/>
              </a:rPr>
              <a:t>To be completed after Week 7. Target: SUS ≥ 80 (Good, Acceptable per Bangor et al., 2009). Instrument administered to 30 respondents after guided demo.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8064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Post-Capstone Recommendations: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199632"/>
            <a:ext cx="10972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→  Paluwagan tracker (highest priority — uniquely Filipino)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64224"/>
            <a:ext cx="10972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→  Backend API proxy (Firebase Cloud Function for key security)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528816"/>
            <a:ext cx="10972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→  15th/30th payday cycle awareness  |  Family wallet sharing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693408"/>
            <a:ext cx="10972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→  Google Play Store submission  |  SQLite encryption (SQLCipher)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Calibri"/>
              </a:rPr>
              <a:t>SmartSpend — v2.9.10  |  Lucid Frame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Brix A. Directo  ·  Cyrille John M. Rubis  ·  Djaunathan Albert S. Madayag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0F0"/>
                </a:solidFill>
                <a:latin typeface="Calibri"/>
              </a:rPr>
              <a:t>Lorma Colleges  —  CCSE, BSIT 4th Year  —  AY 2026–2027, 1st Semester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262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9A84C"/>
                </a:solidFill>
                <a:latin typeface="Calibri"/>
              </a:rPr>
              <a:t>Adviser: Ellen F. Mangaoang, 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74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0F0F0"/>
                </a:solidFill>
                <a:latin typeface="Calibri"/>
              </a:rPr>
              <a:t>github.com/Zushikina-kun/smartspend-app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80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5C0E24"/>
                </a:solidFill>
                <a:latin typeface="Calibri"/>
              </a:rPr>
              <a:t>Open for 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