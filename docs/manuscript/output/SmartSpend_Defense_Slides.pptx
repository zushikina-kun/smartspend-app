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SmartSpend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C9A84C"/>
                </a:solidFill>
                <a:latin typeface="Calibri"/>
              </a:rPr>
              <a:t>An AI-Assisted Mobile Financial Tracking and Advisory Application
for Personal Financial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337560"/>
            <a:ext cx="7589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Pre-Final Defense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0"/>
                </a:solidFill>
                <a:latin typeface="Calibri"/>
              </a:rPr>
              <a:t>Brix A. Directo  |  Cyrille John M. Rubis  |  Djaunathan Albert S. Madayag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0"/>
                </a:solidFill>
                <a:latin typeface="Calibri"/>
              </a:rPr>
              <a:t>Lucid Frame  |  BSIT 4th Year  |  Lorma Colleges CCSE  |  AY 2026–2027, 1st Semester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00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  <a:latin typeface="Calibri"/>
              </a:rPr>
              <a:t>Adviser: Ellen F. Mangaoang, 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383280" cy="219456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Filipino adults with
bank accounts
(BSP CFIS,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188720"/>
            <a:ext cx="3383280" cy="219456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74%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Filipinos who answered
financial literacy questions
correctly (BSP, 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188720"/>
            <a:ext cx="3383280" cy="219456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2344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5C0E24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1945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Global consumers using AI
specifically for budgeting
(EY Survey,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C0E24"/>
                </a:solidFill>
                <a:latin typeface="Calibri"/>
              </a:rPr>
              <a:t>The Gap: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Calibri"/>
              </a:rPr>
              <a:t>Most Filipinos do not track finances — not because they don't want to, but because traditional tools (spreadsheets, manual apps) are too tedious. No existing free Android app combines agentic AI + offline capability + Filipino-English + a Financial Health Score.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83480"/>
            <a:ext cx="11247120" cy="822960"/>
          </a:xfrm>
          <a:prstGeom prst="rect">
            <a:avLst/>
          </a:prstGeom>
          <a:solidFill>
            <a:srgbClr val="F5EEF0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047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C0E24"/>
                </a:solidFill>
                <a:latin typeface="Calibri"/>
              </a:rPr>
              <a:t>📌  SmartSpend removes friction: say "I spent 85 pesos on lunch" — it logs automatically. No forms. No dropdowns.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Research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3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247120" cy="146304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685800" cy="146304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2344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C0E24"/>
                </a:solidFill>
                <a:latin typeface="Calibri"/>
              </a:rPr>
              <a:t>Objective 1 —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373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Assess the existing financial management practices, common budgeting challenges, and expense tracking behaviors of parents (35–55) and young professionals (21–35) in La Union.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11247120" cy="1463040"/>
          </a:xfrm>
          <a:prstGeom prst="rect">
            <a:avLst/>
          </a:prstGeom>
          <a:solidFill>
            <a:srgbClr val="D9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685800" cy="146304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63239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803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A4A7F"/>
                </a:solidFill>
                <a:latin typeface="Calibri"/>
              </a:rPr>
              <a:t>Objective 2 —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83279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Design and develop the SmartSpend mobile application, including a comparative evaluation of 15 LLM API providers to select the optimal model for Filipino-English agentic AI.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146304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685800" cy="146304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09159"/>
            <a:ext cx="685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2627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6B3A"/>
                </a:solidFill>
                <a:latin typeface="Calibri"/>
              </a:rPr>
              <a:t>Objective 3 — 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0292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Evaluate the usability of SmartSpend using the System Usability Scale (SUS) with 30 purposively selected respondents. Target: SUS Score ≥ 80 (Good).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is SmartSpend?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0E24"/>
                </a:solidFill>
                <a:latin typeface="Calibri"/>
              </a:rPr>
              <a:t>User Input  →  AI Parsing  →  Autonomous Action  →  SQLite  →  Analytics &amp; Insights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34 Agentic AI
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AI takes real actions
on your financial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Financial Health
Score 0–100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Behavioral metric,
dual-mode formula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73736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317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Multi-Modal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Voice, OCR, Barcode,
Batch Screenshots (40+)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Offline-First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SQLite + optional
Firebase sync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🇵🇭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Filipino-First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Taglish AI, GCash,
SSS, PhilHealth, BIR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840480"/>
            <a:ext cx="3566160" cy="1920240"/>
          </a:xfrm>
          <a:prstGeom prst="rect">
            <a:avLst/>
          </a:prstGeom>
          <a:solidFill>
            <a:srgbClr val="FAFA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931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26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C0E24"/>
                </a:solidFill>
                <a:latin typeface="Calibri"/>
              </a:rPr>
              <a:t>Always Free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7492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Gemini + Groq +
Cerebras free tier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30000" cy="859536"/>
          </a:xfrm>
          <a:prstGeom prst="rect">
            <a:avLst/>
          </a:prstGeom>
          <a:solidFill>
            <a:srgbClr val="E8F0FE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Flutter / Dart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143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App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463039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Android (arm64-v8a), 45 MB, single codebase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84248"/>
            <a:ext cx="11430000" cy="859536"/>
          </a:xfrm>
          <a:prstGeom prst="rect">
            <a:avLst/>
          </a:prstGeom>
          <a:solidFill>
            <a:srgbClr val="FFF8E1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SQLite v11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756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Local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95728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20 tables, offline-first, full CRUD without internet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16936"/>
            <a:ext cx="11430000" cy="859536"/>
          </a:xfrm>
          <a:prstGeom prst="rect">
            <a:avLst/>
          </a:prstGeom>
          <a:solidFill>
            <a:srgbClr val="E8F5E9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08376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Firebase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083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Cloud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328416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Firestore sync + Auth (Google/email) + Crashlytics + Remote Config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9624"/>
            <a:ext cx="11430000" cy="859536"/>
          </a:xfrm>
          <a:prstGeom prst="rect">
            <a:avLst/>
          </a:prstGeom>
          <a:solidFill>
            <a:srgbClr val="F3E5F5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3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Gemini 3.1 Flash-Lite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94106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Primary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261104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1,000 req/day free — best Filipino-English, 1M token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782312"/>
            <a:ext cx="11430000" cy="859536"/>
          </a:xfrm>
          <a:prstGeom prst="rect">
            <a:avLst/>
          </a:prstGeom>
          <a:solidFill>
            <a:srgbClr val="E3F2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73752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Groq LLaMA 3.3 70B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8737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Fallback LLM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193792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14,400 req/day free — best open-source reasoning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15000"/>
            <a:ext cx="11430000" cy="859536"/>
          </a:xfrm>
          <a:prstGeom prst="rect">
            <a:avLst/>
          </a:prstGeom>
          <a:solidFill>
            <a:srgbClr val="FBE9E7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0644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Google ML Kit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806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4A7F"/>
                </a:solidFill>
                <a:latin typeface="Calibri"/>
              </a:rPr>
              <a:t>OCR + Barcode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26480"/>
            <a:ext cx="8869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On-device text recognition, no API key, works offline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Agentic 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6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2103120" cy="1234440"/>
          </a:xfrm>
          <a:prstGeom prst="rect">
            <a:avLst/>
          </a:prstGeom>
          <a:solidFill>
            <a:srgbClr val="2A4A7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User Input
(Voice / Text / Camera / Screenshot)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9192" y="1097280"/>
            <a:ext cx="2103120" cy="1234440"/>
          </a:xfrm>
          <a:prstGeom prst="rect">
            <a:avLst/>
          </a:prstGeom>
          <a:solidFill>
            <a:srgbClr val="5C0E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2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Parsing
(Gemini / Groq / Cerebras)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8344" y="1097280"/>
            <a:ext cx="2103120" cy="1234440"/>
          </a:xfrm>
          <a:prstGeom prst="rect">
            <a:avLst/>
          </a:prstGeom>
          <a:solidFill>
            <a:srgbClr val="C97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8344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 Action Types
(Intent Classification)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1464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97496" y="1097280"/>
            <a:ext cx="2103120" cy="1234440"/>
          </a:xfrm>
          <a:prstGeom prst="rect">
            <a:avLst/>
          </a:prstGeom>
          <a:solidFill>
            <a:srgbClr val="1A6B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SQLite Write
(Autonomous Action)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616" y="1463040"/>
            <a:ext cx="256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C0E2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6648" y="1097280"/>
            <a:ext cx="2103120" cy="1234440"/>
          </a:xfrm>
          <a:prstGeom prst="rect">
            <a:avLst/>
          </a:prstGeom>
          <a:solidFill>
            <a:srgbClr val="8B1A6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6648" y="109728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FHS Update
(score_service.dart)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0E24"/>
                </a:solidFill>
                <a:latin typeface="Calibri"/>
              </a:rPr>
              <a:t>Perceive  →  Decide  →  Act  (genuine agentic loop)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4A7F"/>
                </a:solidFill>
                <a:latin typeface="Calibri"/>
              </a:rPr>
              <a:t>6-Provider Auto-Failover (all free tier):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3474720"/>
            <a:ext cx="1892807" cy="123444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" y="3493008"/>
            <a:ext cx="189280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C0E24"/>
                </a:solidFill>
                <a:latin typeface="Calibri"/>
              </a:rPr>
              <a:t>1. Gemini 3.5
Flash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" y="4160520"/>
            <a:ext cx="18928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A4A7F"/>
                </a:solidFill>
                <a:latin typeface="Calibri"/>
              </a:rPr>
              <a:t>~1,500/day
(primary best)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3474720"/>
            <a:ext cx="1892807" cy="1234440"/>
          </a:xfrm>
          <a:prstGeom prst="rect">
            <a:avLst/>
          </a:prstGeom>
          <a:solidFill>
            <a:srgbClr val="EDE7F6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3493008"/>
            <a:ext cx="189280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C0E24"/>
                </a:solidFill>
                <a:latin typeface="Calibri"/>
              </a:rPr>
              <a:t>2. Gemini 3.1
Flash-Lite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160520"/>
            <a:ext cx="18928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A4A7F"/>
                </a:solidFill>
                <a:latin typeface="Calibri"/>
              </a:rPr>
              <a:t>~1,000/day
(fast Gemini)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87952" y="3474720"/>
            <a:ext cx="1892807" cy="1234440"/>
          </a:xfrm>
          <a:prstGeom prst="rect">
            <a:avLst/>
          </a:prstGeom>
          <a:solidFill>
            <a:srgbClr val="E3F2FD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87952" y="3493008"/>
            <a:ext cx="189280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C0E24"/>
                </a:solidFill>
                <a:latin typeface="Calibri"/>
              </a:rPr>
              <a:t>3. LLaMA 4
Scout (Groq)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4160520"/>
            <a:ext cx="18928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A4A7F"/>
                </a:solidFill>
                <a:latin typeface="Calibri"/>
              </a:rPr>
              <a:t>1,000/day
(Tagalog native)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3474720"/>
            <a:ext cx="1892807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81344" y="3493008"/>
            <a:ext cx="189280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C0E24"/>
                </a:solidFill>
                <a:latin typeface="Calibri"/>
              </a:rPr>
              <a:t>4. LLaMA 3.3
70B (Groq)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160520"/>
            <a:ext cx="18928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A4A7F"/>
                </a:solidFill>
                <a:latin typeface="Calibri"/>
              </a:rPr>
              <a:t>1,000/day
(fallback 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3474720"/>
            <a:ext cx="1892807" cy="1234440"/>
          </a:xfrm>
          <a:prstGeom prst="rect">
            <a:avLst/>
          </a:prstGeom>
          <a:solidFill>
            <a:srgbClr val="FFF8E1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3493008"/>
            <a:ext cx="189280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C0E24"/>
                </a:solidFill>
                <a:latin typeface="Calibri"/>
              </a:rPr>
              <a:t>5. LLaMA 3.1
8B (Groq)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160520"/>
            <a:ext cx="18928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A4A7F"/>
                </a:solidFill>
                <a:latin typeface="Calibri"/>
              </a:rPr>
              <a:t>14,400/day
(fast/volume)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68128" y="3474720"/>
            <a:ext cx="1892807" cy="1234440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68128" y="3493008"/>
            <a:ext cx="189280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C0E24"/>
                </a:solidFill>
                <a:latin typeface="Calibri"/>
              </a:rPr>
              <a:t>6. GPT-OSS
120B (Cerebras)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4160520"/>
            <a:ext cx="18928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A4A7F"/>
                </a:solidFill>
                <a:latin typeface="Calibri"/>
              </a:rPr>
              <a:t>1M tokens/day
(last resort)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FFF3F5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49103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C0E24"/>
                </a:solidFill>
                <a:latin typeface="Calibri"/>
              </a:rPr>
              <a:t>💡  Why Context Injection (not RAG)?  Per-user data (~5K tokens) fits in one prompt. RAG adds vector-search overhead designed for thousands of documents — unnecessary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LLM Comparative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Evaluation of 15 LLM APIs — Selection Criteria Weighted for Filipino-English Mobile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00" cy="566928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25%  Filipino-English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566928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20%  Speed / 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17320"/>
            <a:ext cx="3657600" cy="566928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20%  Tool Use / 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75688"/>
            <a:ext cx="3657600" cy="566928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15%  Free 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75688"/>
            <a:ext cx="3657600" cy="566928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10%  Context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075688"/>
            <a:ext cx="3657600" cy="566928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167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10%  Financial Reasoning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346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4A7F"/>
                </a:solidFill>
                <a:latin typeface="Calibri"/>
              </a:rPr>
              <a:t>Selected Models (Top 5):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46120"/>
            <a:ext cx="224942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29183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3246120"/>
            <a:ext cx="106070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79" y="3291839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Provider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39" y="3246120"/>
            <a:ext cx="87782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59" y="3291839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Speed (t/s)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3246120"/>
            <a:ext cx="7863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Filipino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246120"/>
            <a:ext cx="7863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Tool 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246120"/>
            <a:ext cx="115214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9183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Free Tier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0" y="3246120"/>
            <a:ext cx="1243584" cy="47548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3291839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76472"/>
            <a:ext cx="224942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822191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Gemini 3.1 Flash-Lite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3776472"/>
            <a:ext cx="106070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97479" y="3822191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Google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3776472"/>
            <a:ext cx="87782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59" y="3822191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~400–600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3776472"/>
            <a:ext cx="7863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59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★★★★★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3776472"/>
            <a:ext cx="7863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2120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★★★★★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776472"/>
            <a:ext cx="115214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1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1,000/day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80" y="3776472"/>
            <a:ext cx="1243584" cy="475488"/>
          </a:xfrm>
          <a:prstGeom prst="rect">
            <a:avLst/>
          </a:prstGeom>
          <a:solidFill>
            <a:srgbClr val="FFF3E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3822191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PRIMARY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06824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35254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Gemini 3.5 Flash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51760" y="4306824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97479" y="4352544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Google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39" y="4306824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94759" y="4352544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~200–400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4306824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09159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0" y="4306824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32120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4306824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35254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250/day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98080" y="4306824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43800" y="4352544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37175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4882895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3.3 70B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51760" y="4837175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97479" y="4882895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Groq LPU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49039" y="4837175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94759" y="4882895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63440" y="4837175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09159" y="4882895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4837175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32120" y="4882895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★★★★★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4837175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55080" y="4882895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14,400/day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98080" y="4837175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43800" y="4882895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5367527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5413247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3.1 8B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51760" y="5367527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97479" y="5413247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Groq LPU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5367527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94759" y="5413247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~800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5367527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09159" y="5413247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86400" y="5367527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32120" y="5413247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5367527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55080" y="5413247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14,400/day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498080" y="5367527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5413247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5897879"/>
            <a:ext cx="22494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594359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LLaMA 3.1 70B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51760" y="5897879"/>
            <a:ext cx="106070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697479" y="5943599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Cerebras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749039" y="5897879"/>
            <a:ext cx="87782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794759" y="5943599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~1,800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63440" y="5897879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09159" y="594359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86400" y="5897879"/>
            <a:ext cx="7863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32120" y="594359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★★★★☆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5897879"/>
            <a:ext cx="115214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55080" y="594359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1M tokens/day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498080" y="5897879"/>
            <a:ext cx="1243584" cy="475488"/>
          </a:xfrm>
          <a:prstGeom prst="rect">
            <a:avLst/>
          </a:prstGeom>
          <a:solidFill>
            <a:srgbClr val="FAFAFA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43800" y="5943599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✅ Fallback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General LLMs vs Finance-Specialized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8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Why FinGPT, Fin-R1, and BloombergGPT are NOT the right choice for SmartSpend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1691639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6304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89888"/>
            <a:ext cx="4709160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146304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Finance-Specialized LLMs
(FinGPT, Fin-R1, BloombergGPT)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389888"/>
            <a:ext cx="4617720" cy="914400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2592" y="146304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General Multilingual LLMs
(Gemini 3.1, LLaMA 3.3 70B)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95728"/>
            <a:ext cx="1691639" cy="914400"/>
          </a:xfrm>
          <a:prstGeom prst="rect">
            <a:avLst/>
          </a:prstGeom>
          <a:solidFill>
            <a:srgbClr val="F5EEF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46888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Filipino-English
Expense Parsing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39572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21992" y="246888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Not trained on Tagalog/Filipino.
Poor on local merchant names.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239572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46888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Google training covers SEA languages.
Handles Taglish correctly.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01568"/>
            <a:ext cx="1691639" cy="914400"/>
          </a:xfrm>
          <a:prstGeom prst="rect">
            <a:avLst/>
          </a:prstGeom>
          <a:solidFill>
            <a:srgbClr val="FAFAFA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347472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Agentic JSON
Output (34 actions)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40156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21992" y="347472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No function calling support.
BloombergGPT has no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40156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347472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Native function calling.
Reliable JSON output.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07408"/>
            <a:ext cx="1691639" cy="914400"/>
          </a:xfrm>
          <a:prstGeom prst="rect">
            <a:avLst/>
          </a:prstGeom>
          <a:solidFill>
            <a:srgbClr val="F5EEF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448056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PH Financial
Advisory (SSS, BIR)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40740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21992" y="448056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Trained on US market data.
No PH government knowledge.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440740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48056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Gemini includes PH gov sources.
Correct SSS/PhilHealth rates.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413248"/>
            <a:ext cx="1691639" cy="914400"/>
          </a:xfrm>
          <a:prstGeom prst="rect">
            <a:avLst/>
          </a:prstGeom>
          <a:solidFill>
            <a:srgbClr val="FAFAFA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486400"/>
            <a:ext cx="15910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Free API Access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48840" y="5413248"/>
            <a:ext cx="470916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21992" y="5486400"/>
            <a:ext cx="4608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0000"/>
                </a:solidFill>
                <a:latin typeface="Calibri"/>
              </a:rPr>
              <a:t>❌  Self-hosted only (needs GPU).
No hosted free API.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5413248"/>
            <a:ext cx="4617720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5486400"/>
            <a:ext cx="45171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6000"/>
                </a:solidFill>
                <a:latin typeface="Calibri"/>
              </a:rPr>
              <a:t>✅  Gemini: 1,000/day free.
Groq: 14,400/day free.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solidFill>
            <a:srgbClr val="FFF3F5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📌  Conclusion (FrontierFinance Benchmark, 2026): Tool harness architecture matters more than model specialization. General multilingual LLMs outperform finance-specialized models on SmartSpend's Filipino-English consumer workload.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Financial Health Score (FHS)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9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0 to 100 behavioral metric — computed from user transaction data — no surveys, no bank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03520" cy="41148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Full Mode  (Income Tracking 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417320"/>
            <a:ext cx="5852160" cy="41148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41732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Lightweight Mode  (Income Tracking OFF)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Savings Rate  (25 pts)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13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min(1, savingsRate / 0.20)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7860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Warren &amp; Tyagi (2005) 50/30/20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2608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Overspend Control  (25 pts)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(1 − overDays / activeDays)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FinHealth Score® Spend pillar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3192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Budget Adherence  (25 pts)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325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(onBudget / totalBudgets)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9028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Ramsey (2003) zero-based budgeting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37760"/>
            <a:ext cx="5303520" cy="914400"/>
          </a:xfrm>
          <a:prstGeom prst="rect">
            <a:avLst/>
          </a:prstGeom>
          <a:solidFill>
            <a:srgbClr val="EEF4FF"/>
          </a:solidFill>
          <a:ln w="190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83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Logging Consistency  (25 pts)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3309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ourier New"/>
              </a:rPr>
              <a:t>25 × (loggedDays / activeDays)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9612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Basis: Thaler &amp; Sunstein (2008) nudge theory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192024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965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Spending Restraint  (25 pts)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3957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vs user-set spending limit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292608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971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Logging Consistency  (25 pts)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015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same formula as Full Mode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93192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977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Category Balance  (25 pts)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740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no single category &gt; 40%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937760"/>
            <a:ext cx="5852160" cy="914400"/>
          </a:xfrm>
          <a:prstGeom prst="rect">
            <a:avLst/>
          </a:prstGeom>
          <a:solidFill>
            <a:srgbClr val="EFFFEF"/>
          </a:solidFill>
          <a:ln w="19050">
            <a:solidFill>
              <a:srgbClr val="AAD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4983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A"/>
                </a:solidFill>
                <a:latin typeface="Calibri"/>
              </a:rPr>
              <a:t>Habit Streak  (25 pts)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41324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14-day streak = full score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989320"/>
            <a:ext cx="11430000" cy="731520"/>
          </a:xfrm>
          <a:prstGeom prst="rect">
            <a:avLst/>
          </a:prstGeom>
          <a:solidFill>
            <a:srgbClr val="FFF0F3"/>
          </a:solidFill>
          <a:ln w="19050">
            <a:solidFill>
              <a:srgbClr val="CC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8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⚠️  Score Adjustments:  Warning Decay (−5 pts/day, max −15) — ignoring budget warnings  |  Gap Adjustment (−3 or +2 pts/day) — unlogged days confirmed by user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Comparative Study — SmartSpend vs Existing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10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22 apps reviewed (14 international, 8 Philippine-context)  |  August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066543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444752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7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3744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SmartSpend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79" y="1371600"/>
            <a:ext cx="115214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3" y="144475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YNAB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19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4063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Monarch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799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3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BudgetPH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1371600"/>
            <a:ext cx="142646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4" y="1444752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Alkansya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1335024" cy="521207"/>
          </a:xfrm>
          <a:prstGeom prst="rect">
            <a:avLst/>
          </a:prstGeom>
          <a:solidFill>
            <a:srgbClr val="5C0E24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444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Pera Coach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47672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020824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34 Agentic AI 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79" y="1947672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23744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34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79" y="1947672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3" y="2020824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199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84063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799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3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 Insights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1947672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27264" y="2020824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1947672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90304" y="20208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523744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" y="2596896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Filipino-English 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79" y="2523744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23744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Full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79" y="2523744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95343" y="2596896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199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4063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799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3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0" y="2523744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27264" y="2596896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iOS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2523744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259689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099816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4" y="3172968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Financial Health Score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79" y="3099816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23744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0–100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79" y="3099816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5343" y="3172968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199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84063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799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55663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Simpler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0" y="3099816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27264" y="317296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Web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35440" y="3099816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0304" y="317296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675887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0624" y="3749039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Offline Mode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68879" y="3675887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23744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Full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79" y="3675887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95343" y="374903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199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84063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799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3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72400" y="3675887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27264" y="3749039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35440" y="3675887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90304" y="3749039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251960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0624" y="4325112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Batch Screenshots (40+)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68879" y="4251960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523744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79" y="4251960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95343" y="432511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199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84063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799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5663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72400" y="4251960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27264" y="4325112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35440" y="4251960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290304" y="43251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4828032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0624" y="4901184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Voice Input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468879" y="4828032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523744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40479" y="4828032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895343" y="4901184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29199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84063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00799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55663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772400" y="4828032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827264" y="4901184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35440" y="4828032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290304" y="490118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404104"/>
            <a:ext cx="2066543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0624" y="5477256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Free (Android)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468879" y="5404104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523744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Always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40479" y="5404104"/>
            <a:ext cx="115214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5343" y="5477256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199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84063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00799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55663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PWA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772400" y="5404104"/>
            <a:ext cx="142646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827264" y="5477256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 iOS+$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235440" y="5404104"/>
            <a:ext cx="1335024" cy="521207"/>
          </a:xfrm>
          <a:prstGeom prst="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290304" y="5477256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GCash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65760" y="5980176"/>
            <a:ext cx="2066543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20624" y="6053328"/>
            <a:ext cx="19933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Gamification (Badges)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68879" y="5980176"/>
            <a:ext cx="1335024" cy="521207"/>
          </a:xfrm>
          <a:prstGeom prst="rect">
            <a:avLst/>
          </a:prstGeom>
          <a:solidFill>
            <a:srgbClr val="FFF0E8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523744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C0E24"/>
                </a:solidFill>
                <a:latin typeface="Calibri"/>
              </a:rPr>
              <a:t>✅ 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840479" y="5980176"/>
            <a:ext cx="115214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95343" y="6053328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29199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084063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00799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55663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6B3A"/>
                </a:solidFill>
                <a:latin typeface="Calibri"/>
              </a:rPr>
              <a:t>✅ XP/lvl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72400" y="5980176"/>
            <a:ext cx="142646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827264" y="605332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235440" y="5980176"/>
            <a:ext cx="1335024" cy="521207"/>
          </a:xfrm>
          <a:prstGeom prst="rect">
            <a:avLst/>
          </a:prstGeom>
          <a:solidFill>
            <a:srgbClr val="F9F9F9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290304" y="6053328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0000"/>
                </a:solidFill>
                <a:latin typeface="Calibri"/>
              </a:rPr>
              <a:t>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Multi-Modal Input &amp; Smart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11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743200" cy="228600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📹
Live Camera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Barcode/QR live detection
+ Receipt mode OCR
+ Torch toggle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97280"/>
            <a:ext cx="2743200" cy="2286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🖼️
Single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Auto-routes: barcode,
receipt, or screenshot
based on 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2743200" cy="228600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📱
Batch Screenshots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Up to 10 images
Auto-detects 40+ platforms
AI prompt per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2286000"/>
          </a:xfrm>
          <a:prstGeom prst="rect">
            <a:avLst/>
          </a:prstGeom>
          <a:solidFill>
            <a:srgbClr val="C9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📋
Paste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0299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GCash/BPI/Maya
bank export text
OCR text import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661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C0E24"/>
                </a:solidFill>
                <a:latin typeface="Calibri"/>
              </a:rPr>
              <a:t>40+ platforms auto-detected with platform-specific AI extraction prompts: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77639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4164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🛍️  Shopee, Lazada, TikTok Shop, Carousell, Amazon, AliExpress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9704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5371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🎮  Steam, Google Play, App Store, Codashop, Garena, MLBB, Genshin, Valorant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01768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06577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💳  GCash, Maya, GrabPay, ShopeePay, Coins.ph, PayPal, BPI, BDO, UnionBank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3831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57784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🚗  GrabFood, Foodpanda, Grab rides, Angkas, Maxim, Lalamove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025896"/>
            <a:ext cx="11247120" cy="457200"/>
          </a:xfrm>
          <a:prstGeom prst="rect">
            <a:avLst/>
          </a:prstGeom>
          <a:solidFill>
            <a:srgbClr val="F8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0899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🎬  Netflix, Spotify, YouTube Premium, Disney+, Viu, Vivamax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Research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Backlog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1591056" cy="50292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02536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02536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2536" y="1627632"/>
            <a:ext cx="1591056" cy="50292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85032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85032" y="1627632"/>
            <a:ext cx="1591056" cy="502920"/>
          </a:xfrm>
          <a:prstGeom prst="rect">
            <a:avLst/>
          </a:prstGeom>
          <a:solidFill>
            <a:srgbClr val="D9EA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67528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Development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627632"/>
            <a:ext cx="1591056" cy="50292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50024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0024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Testing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0024" y="1627632"/>
            <a:ext cx="1591056" cy="50292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20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Deployment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1627632"/>
            <a:ext cx="1591056" cy="502920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15016" y="1097280"/>
            <a:ext cx="1591056" cy="5029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5016" y="1097280"/>
            <a:ext cx="15910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7. Done/Review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15016" y="1627632"/>
            <a:ext cx="1591056" cy="502920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240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Agile Kanban Methodology — 7 phases, each producing a deliverable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88920"/>
            <a:ext cx="3703320" cy="1828800"/>
          </a:xfrm>
          <a:prstGeom prst="rect">
            <a:avLst/>
          </a:prstGeom>
          <a:solidFill>
            <a:srgbClr val="E8F0FE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Research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Mixed Methods
(Developmental + Descriptive)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60" y="2788920"/>
            <a:ext cx="3703320" cy="1828800"/>
          </a:xfrm>
          <a:prstGeom prst="rect">
            <a:avLst/>
          </a:prstGeom>
          <a:solidFill>
            <a:srgbClr val="FFF0F3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Population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30 Respondents:
20 Parents (35–55)
10 Young Professionals (21–35)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2788920"/>
            <a:ext cx="3703320" cy="1828800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8803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Sampling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319272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Purposive Sampling
La Union, Philippines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54879"/>
            <a:ext cx="3703320" cy="182880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Data Tools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Structured Survey
(Obj. 1)  +  SUS (Obj. 3)
+  Expert Validators (Obj. 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4754879"/>
            <a:ext cx="3703320" cy="182880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System Usability Scale
(Brooke, 1996)
Target: SUS ≥ 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4754879"/>
            <a:ext cx="3703320" cy="1828800"/>
          </a:xfrm>
          <a:prstGeom prst="rect">
            <a:avLst/>
          </a:prstGeom>
          <a:solidFill>
            <a:srgbClr val="E0F7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4631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C0E24"/>
                </a:solidFill>
                <a:latin typeface="Calibri"/>
              </a:rPr>
              <a:t>Framework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285231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22222"/>
                </a:solidFill>
                <a:latin typeface="Calibri"/>
              </a:rPr>
              <a:t>IPO Model
(Input–Process–Output)
Conceptual Framework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Usability Evaluation — SUS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13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097280"/>
            <a:ext cx="5760720" cy="2560320"/>
          </a:xfrm>
          <a:prstGeom prst="rect">
            <a:avLst/>
          </a:prstGeom>
          <a:solidFill>
            <a:srgbClr val="F5EEF0"/>
          </a:solidFill>
          <a:ln w="19050">
            <a:solidFill>
              <a:srgbClr val="5C0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C0E24"/>
                </a:solidFill>
                <a:latin typeface="Calibri"/>
              </a:rPr>
              <a:t>Overall SUS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73736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5C0E24"/>
                </a:solidFill>
                <a:latin typeface="Calibri"/>
              </a:rPr>
              <a:t>[ _____ / 100 ]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88036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22"/>
                </a:solidFill>
                <a:latin typeface="Calibri"/>
              </a:rPr>
              <a:t>Grade: ___  |  Adjective: _______________  |  n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429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Calibri"/>
              </a:rPr>
              <a:t>(To be completed after Week 7 SUS administration)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86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SUS Score Interpretation Scale (Bangor et al., 2009):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343400"/>
            <a:ext cx="13716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40740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≥ 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4343400"/>
            <a:ext cx="7315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440740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4343400"/>
            <a:ext cx="201168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39" y="440740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Best Imaginable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4343400"/>
            <a:ext cx="18288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4074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343400"/>
            <a:ext cx="457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407408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18888"/>
            <a:ext cx="13716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88289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85–89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4818888"/>
            <a:ext cx="7315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0" y="488289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818888"/>
            <a:ext cx="201168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6039" y="488289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Excellent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4818888"/>
            <a:ext cx="182880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8828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818888"/>
            <a:ext cx="45720" cy="420624"/>
          </a:xfrm>
          <a:prstGeom prst="rect">
            <a:avLst/>
          </a:prstGeom>
          <a:solidFill>
            <a:srgbClr val="E8F5E9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882896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294376"/>
            <a:ext cx="137160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35838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80–84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83080" y="5294376"/>
            <a:ext cx="73152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358384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5294376"/>
            <a:ext cx="201168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06039" y="535838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Good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5294376"/>
            <a:ext cx="182880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535838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2222"/>
                </a:solidFill>
                <a:latin typeface="Calibri"/>
              </a:rPr>
              <a:t>Acceptable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94376"/>
            <a:ext cx="45720" cy="420624"/>
          </a:xfrm>
          <a:prstGeom prst="rect">
            <a:avLst/>
          </a:prstGeom>
          <a:solidFill>
            <a:srgbClr val="A5D6A7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59" y="5358384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0E24"/>
                </a:solidFill>
                <a:latin typeface="Calibri"/>
              </a:rPr>
              <a:t>← TARGET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769864"/>
            <a:ext cx="137160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83387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70–79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83080" y="5769864"/>
            <a:ext cx="73152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28800" y="583387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5769864"/>
            <a:ext cx="201168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06039" y="58338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OK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17720" y="5769864"/>
            <a:ext cx="182880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63440" y="58338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Marginal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5769864"/>
            <a:ext cx="45720" cy="420624"/>
          </a:xfrm>
          <a:prstGeom prst="rect">
            <a:avLst/>
          </a:prstGeom>
          <a:solidFill>
            <a:srgbClr val="FFF9C4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59" y="5833872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245352"/>
            <a:ext cx="137160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30936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&lt; 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783080" y="6245352"/>
            <a:ext cx="73152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28800" y="630936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D/F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0" y="6245352"/>
            <a:ext cx="201168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06039" y="63093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Poor – Awful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17720" y="6245352"/>
            <a:ext cx="182880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63440" y="630936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Not Acceptable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6245352"/>
            <a:ext cx="45720" cy="420624"/>
          </a:xfrm>
          <a:prstGeom prst="rect">
            <a:avLst/>
          </a:prstGeom>
          <a:solidFill>
            <a:srgbClr val="FFCCBC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37959" y="6309360"/>
            <a:ext cx="-45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4922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Respondents: 20 Parents (35–55)  +  10 Young Professionals (21–35)  |  Administered after guided live demo using SmartSpend Demo Mode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Demo Overview — 8–9 Minute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696712" cy="128016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1704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170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🏠 Home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FHS score card, spending summary, wallet 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1928" y="1097280"/>
            <a:ext cx="5696712" cy="128016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17043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0:30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6328" y="11704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2min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1704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🤖 AI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7373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Voice → text → wallet update → PH advisory question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14600"/>
            <a:ext cx="5696712" cy="128016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5877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2:30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5877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58775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📷 Smart Import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4-mode sheet, Batch Screenshots demo (40+ platforms)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1928" y="2514600"/>
            <a:ext cx="5696712" cy="1280160"/>
          </a:xfrm>
          <a:prstGeom prst="rect">
            <a:avLst/>
          </a:prstGeom>
          <a:solidFill>
            <a:srgbClr val="FFF8DC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58775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4:00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25877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58775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💵 Wallets &amp;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154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Wallet card, Log Allowance, Balance Mode toggle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31920"/>
            <a:ext cx="5696712" cy="1280160"/>
          </a:xfrm>
          <a:prstGeom prst="rect">
            <a:avLst/>
          </a:prstGeom>
          <a:solidFill>
            <a:srgbClr val="F3E5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050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5:30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00507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1.5min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005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📊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Pie chart, 50/30/20, FHS trend, market insights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1928" y="3931920"/>
            <a:ext cx="5696712" cy="1280160"/>
          </a:xfrm>
          <a:prstGeom prst="rect">
            <a:avLst/>
          </a:prstGeom>
          <a:solidFill>
            <a:srgbClr val="FFE8D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40050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7:00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00507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1min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4005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🏥 FHS Breakdown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4572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Tap score card, all 4 components, "Ask AI" link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349240"/>
            <a:ext cx="5696712" cy="1280160"/>
          </a:xfrm>
          <a:prstGeom prst="rect">
            <a:avLst/>
          </a:prstGeom>
          <a:solidFill>
            <a:srgbClr val="E0F7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223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8:00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4223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542239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🎮 Gamification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989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Daily quests, mood check-in, achievement badges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1928" y="5349240"/>
            <a:ext cx="5696712" cy="1280160"/>
          </a:xfrm>
          <a:prstGeom prst="rect">
            <a:avLst/>
          </a:prstGeom>
          <a:solidFill>
            <a:srgbClr val="F0E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54223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8:30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96328" y="54223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30s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542239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4A7F"/>
                </a:solidFill>
                <a:latin typeface="Calibri"/>
              </a:rPr>
              <a:t>🎬 Architecture +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3368" y="5989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Serverless, context injection, Filipino-first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1967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📌  Before presenting: Reset AI limit (AI screen → ⋮ → Reset Daily Limit)  |  Load Demo Data if needed (Profile → Load Demo Data)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1430000" cy="1417320"/>
          </a:xfrm>
          <a:prstGeom prst="rect">
            <a:avLst/>
          </a:prstGeom>
          <a:solidFill>
            <a:srgbClr val="EAD9E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463040" cy="141732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1
(Assessment)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32588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Confirmed: Filipinos face manual effort burden, irregular budgeting, and lack of proactive financial feedback — validating SmartSpend's core design rationale.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51760"/>
            <a:ext cx="11430000" cy="1417320"/>
          </a:xfrm>
          <a:prstGeom prst="rect">
            <a:avLst/>
          </a:prstGeom>
          <a:solidFill>
            <a:srgbClr val="DAE8F5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651760"/>
            <a:ext cx="1463040" cy="1417320"/>
          </a:xfrm>
          <a:prstGeom prst="rect">
            <a:avLst/>
          </a:prstGeom>
          <a:solidFill>
            <a:srgbClr val="2A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79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2
(Development)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8036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SmartSpend v2.9.19 fully developed: 34 agentic actions, dual-mode FHS, 6-provider failover (incl. LLaMA 4 Scout), 40+ screenshot platforms, all free-tier stack. Gemini 3.1 Flash-Lite confirmed as optimal primary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06240"/>
            <a:ext cx="11430000" cy="1417320"/>
          </a:xfrm>
          <a:prstGeom prst="rect">
            <a:avLst/>
          </a:prstGeom>
          <a:solidFill>
            <a:srgbClr val="D9F0D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1463040" cy="141732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480559"/>
            <a:ext cx="1463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Objective 3
(SUS Evaluation)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434840"/>
            <a:ext cx="9692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22222"/>
                </a:solidFill>
                <a:latin typeface="Calibri"/>
              </a:rPr>
              <a:t>To be completed after Week 7. Target: SUS ≥ 80 (Good, Acceptable per Bangor et al., 2009). Instrument administered to 30 respondents after guided demo.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C0E24"/>
                </a:solidFill>
                <a:latin typeface="Calibri"/>
              </a:rPr>
              <a:t>Post-Capstone Recommendations: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99632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Paluwagan tracker (highest priority — uniquely Filipino)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64224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Backend API proxy (Firebase Cloud Function for key security)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28816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15th/30th payday cycle awareness  |  Family wallet sharing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93408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→  Google Play Store submission  |  SQLite encryption (SQLCipher)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Calibri"/>
              </a:rPr>
              <a:t>SmartSpend — v2.9.11  |  Lucid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Brix A. Directo  ·  Cyrille John M. Rubis  ·  Djaunathan Albert S. Madayag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0F0"/>
                </a:solidFill>
                <a:latin typeface="Calibri"/>
              </a:rPr>
              <a:t>Lorma Colleges  —  CCSE, BSIT 4th Year  —  AY 2026–2027, 1st Semester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26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9A84C"/>
                </a:solidFill>
                <a:latin typeface="Calibri"/>
              </a:rPr>
              <a:t>Adviser: Ellen F. Mangaoang, 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0F0F0"/>
                </a:solidFill>
                <a:latin typeface="Calibri"/>
              </a:rPr>
              <a:t>github.com/Zushikina-kun/smartspend-app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C0E24"/>
                </a:solidFill>
                <a:latin typeface="Calibri"/>
              </a:rPr>
              <a:t>Open for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Anticipated Q&amp;A — Hot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17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5715000" cy="1810512"/>
          </a:xfrm>
          <a:prstGeom prst="rect">
            <a:avLst/>
          </a:prstGeom>
          <a:solidFill>
            <a:srgbClr val="EAD9E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51560"/>
            <a:ext cx="5715000" cy="38404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0881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Q:  How does the FHS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508760"/>
            <a:ext cx="54864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4 components × 25 pts = 100. Full Mode (income ON): Savings Rate, Overspend Control, Budget Adherence, Logging Consistency. Lightweight (income OFF): Restraint, Consistency, Category Balance, Habit Streak. + Warning Decay (−5/day) &amp; Gap Adjustment.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51560"/>
            <a:ext cx="5715000" cy="1810512"/>
          </a:xfrm>
          <a:prstGeom prst="rect">
            <a:avLst/>
          </a:prstGeom>
          <a:solidFill>
            <a:srgbClr val="DAE8F5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051560"/>
            <a:ext cx="5715000" cy="38404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0881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Q:  Why Context Injection, not RAG?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08760"/>
            <a:ext cx="54864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Per-user data (~5K tokens) fits entirely in one prompt — 50 expenses, 8 budgets, 5 goals. RAG is built for thousands of documents requiring vector search. Our approach is simpler, faster, and appropriate for a mobile single-user workload.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53512"/>
            <a:ext cx="5715000" cy="1810512"/>
          </a:xfrm>
          <a:prstGeom prst="rect">
            <a:avLst/>
          </a:prstGeom>
          <a:solidFill>
            <a:srgbClr val="D9F0DA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953512"/>
            <a:ext cx="5715000" cy="38404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9900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Q:  What if all 5 AI providers go down?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3410712"/>
            <a:ext cx="54864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App shows a friendly message and stays fully functional — manual expense logging, all analytics, budgets, goals, and FHS work 100% offline. Rate limits reset within minutes (Groq/Cerebras) or at midnight (daily limits). Simultaneous failure across 6 providers is statistically negligible for a 30-respondent study.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53512"/>
            <a:ext cx="5715000" cy="1810512"/>
          </a:xfrm>
          <a:prstGeom prst="rect">
            <a:avLst/>
          </a:prstGeom>
          <a:solidFill>
            <a:srgbClr val="FFF8DC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953512"/>
            <a:ext cx="5715000" cy="38404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29900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Q:  vs GCash Pera Coach? vs BudgetPH?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3410712"/>
            <a:ext cx="54864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Pera Coach (March 2026, built with Microsoft): teaches financial literacy via Q&amp;A — no expense tracking, no FHS, no offline, no agentic actions. BudgetPH: closest Filipino competitor — has paluwagan &amp; payday cycles. SmartSpend leads on 34 agentic actions, voice/OCR/barcode, offline-first, gamification.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5715000" cy="1810512"/>
          </a:xfrm>
          <a:prstGeom prst="rect">
            <a:avLst/>
          </a:prstGeom>
          <a:solidFill>
            <a:srgbClr val="F3E5F5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855464"/>
            <a:ext cx="5715000" cy="38404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489204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Q:  Why only 30 respondents?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5312664"/>
            <a:ext cx="54864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Purposive sampling — academically valid for exploratory capstone studies. Nielsen's Law: 5 users find 85% of usability issues. SUS is validated for small samples (Bangor et al., 2009). Respondents are purposively selected to match the target population: parents 35–55 and young professionals 21–35.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855464"/>
            <a:ext cx="5715000" cy="1810512"/>
          </a:xfrm>
          <a:prstGeom prst="rect">
            <a:avLst/>
          </a:prstGeom>
          <a:solidFill>
            <a:srgbClr val="FFE8D0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855464"/>
            <a:ext cx="5715000" cy="384048"/>
          </a:xfrm>
          <a:prstGeom prst="rect">
            <a:avLst/>
          </a:prstGeom>
          <a:solidFill>
            <a:srgbClr val="5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489204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Q:  Is your data secure?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5312664"/>
            <a:ext cx="54864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SQLite on-device + Firebase Firestore with UID-scoped security rules. API key fetched via Firebase Remote Config — never hardcoded in the APK binary. App Lock with PIN + biometrics. No PII sent to AI providers — only expense text and anonymized financial summaries.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